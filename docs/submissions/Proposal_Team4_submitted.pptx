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70" r:id="rId6"/>
    <p:sldId id="258" r:id="rId7"/>
    <p:sldId id="259" r:id="rId8"/>
    <p:sldId id="264" r:id="rId9"/>
    <p:sldId id="272" r:id="rId10"/>
    <p:sldId id="266" r:id="rId11"/>
    <p:sldId id="27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vWet="3" dt="2026-10-25T09:57:20.961"/>
    <p1510:client id="{346435FA-081D-D2DA-645F-3E9BD85A1FA8}" v="54" dt="2026-10-25T09:51:15.726"/>
    <p1510:client id="{958C13EC-1875-449B-ADBA-51FC7BF84972}" v="168" dt="2026-10-25T10:21:19.413"/>
    <p1510:client id="{AD793654-0E7A-9766-D52C-6304A913B569}" v="10" dt="2026-10-25T10:18:55.957"/>
    <p1510:client id="{FE1B7901-16F3-83B9-B749-84CE0C6E7D59}" v="7" dt="2026-10-25T10:21:07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53733" autoAdjust="0"/>
  </p:normalViewPr>
  <p:slideViewPr>
    <p:cSldViewPr snapToGrid="0" snapToObjects="1">
      <p:cViewPr varScale="1">
        <p:scale>
          <a:sx n="95" d="100"/>
          <a:sy n="95" d="100"/>
        </p:scale>
        <p:origin x="1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학부생) 최유진 (물리학과)" userId="S::choiyj060801@unist.ac.kr::32bfa8e1-5ae8-4052-954a-30902238bc78" providerId="AD" clId="Web-{00000000-0000-0000-0000-000000000000}"/>
    <pc:docChg chg="modSld">
      <pc:chgData name="(학부생) 최유진 (물리학과)" userId="S::choiyj060801@unist.ac.kr::32bfa8e1-5ae8-4052-954a-30902238bc78" providerId="AD" clId="Web-{00000000-0000-0000-0000-000000000000}" dt="2026-10-25T09:57:20.258" v="0" actId="20577"/>
      <pc:docMkLst>
        <pc:docMk/>
      </pc:docMkLst>
      <pc:sldChg chg="modSp">
        <pc:chgData name="(학부생) 최유진 (물리학과)" userId="S::choiyj060801@unist.ac.kr::32bfa8e1-5ae8-4052-954a-30902238bc78" providerId="AD" clId="Web-{00000000-0000-0000-0000-000000000000}" dt="2026-10-25T09:57:20.258" v="0" actId="20577"/>
        <pc:sldMkLst>
          <pc:docMk/>
          <pc:sldMk cId="2130237845" sldId="269"/>
        </pc:sldMkLst>
        <pc:spChg chg="mod">
          <ac:chgData name="(학부생) 최유진 (물리학과)" userId="S::choiyj060801@unist.ac.kr::32bfa8e1-5ae8-4052-954a-30902238bc78" providerId="AD" clId="Web-{00000000-0000-0000-0000-000000000000}" dt="2026-10-25T09:57:20.258" v="0" actId="20577"/>
          <ac:spMkLst>
            <pc:docMk/>
            <pc:sldMk cId="2130237845" sldId="269"/>
            <ac:spMk id="11" creationId="{00000000-0000-0000-0000-000000000000}"/>
          </ac:spMkLst>
        </pc:spChg>
      </pc:sldChg>
    </pc:docChg>
  </pc:docChgLst>
  <pc:docChgLst>
    <pc:chgData name="(학부생) 정원준 (컴퓨터공학과)" userId="98b0a761-8945-472c-a518-db0ee97cc79b" providerId="ADAL" clId="{CD35C54A-2E40-4A1C-960A-691C08F8C0EE}"/>
    <pc:docChg chg="custSel addSld delSld modSld">
      <pc:chgData name="(학부생) 정원준 (컴퓨터공학과)" userId="98b0a761-8945-472c-a518-db0ee97cc79b" providerId="ADAL" clId="{CD35C54A-2E40-4A1C-960A-691C08F8C0EE}" dt="2026-10-25T10:21:19.413" v="187" actId="20577"/>
      <pc:docMkLst>
        <pc:docMk/>
      </pc:docMkLst>
      <pc:sldChg chg="modSp mod modNotesTx">
        <pc:chgData name="(학부생) 정원준 (컴퓨터공학과)" userId="98b0a761-8945-472c-a518-db0ee97cc79b" providerId="ADAL" clId="{CD35C54A-2E40-4A1C-960A-691C08F8C0EE}" dt="2026-10-25T10:20:47.536" v="183" actId="20577"/>
        <pc:sldMkLst>
          <pc:docMk/>
          <pc:sldMk cId="4243038893" sldId="256"/>
        </pc:sldMkLst>
        <pc:spChg chg="mod">
          <ac:chgData name="(학부생) 정원준 (컴퓨터공학과)" userId="98b0a761-8945-472c-a518-db0ee97cc79b" providerId="ADAL" clId="{CD35C54A-2E40-4A1C-960A-691C08F8C0EE}" dt="2026-10-25T10:20:47.536" v="183" actId="20577"/>
          <ac:spMkLst>
            <pc:docMk/>
            <pc:sldMk cId="4243038893" sldId="256"/>
            <ac:spMk id="4" creationId="{00000000-0000-0000-0000-000000000000}"/>
          </ac:spMkLst>
        </pc:spChg>
      </pc:sldChg>
      <pc:sldChg chg="del modNotesTx">
        <pc:chgData name="(학부생) 정원준 (컴퓨터공학과)" userId="98b0a761-8945-472c-a518-db0ee97cc79b" providerId="ADAL" clId="{CD35C54A-2E40-4A1C-960A-691C08F8C0EE}" dt="2026-10-25T10:03:58.583" v="91"/>
        <pc:sldMkLst>
          <pc:docMk/>
          <pc:sldMk cId="2992735880" sldId="257"/>
        </pc:sldMkLst>
      </pc:sldChg>
      <pc:sldChg chg="modNotesTx">
        <pc:chgData name="(학부생) 정원준 (컴퓨터공학과)" userId="98b0a761-8945-472c-a518-db0ee97cc79b" providerId="ADAL" clId="{CD35C54A-2E40-4A1C-960A-691C08F8C0EE}" dt="2026-10-25T09:49:30.795" v="7" actId="20577"/>
        <pc:sldMkLst>
          <pc:docMk/>
          <pc:sldMk cId="1947020238" sldId="258"/>
        </pc:sldMkLst>
      </pc:sldChg>
      <pc:sldChg chg="modNotesTx">
        <pc:chgData name="(학부생) 정원준 (컴퓨터공학과)" userId="98b0a761-8945-472c-a518-db0ee97cc79b" providerId="ADAL" clId="{CD35C54A-2E40-4A1C-960A-691C08F8C0EE}" dt="2026-10-25T09:49:27.930" v="6" actId="20577"/>
        <pc:sldMkLst>
          <pc:docMk/>
          <pc:sldMk cId="3170838032" sldId="259"/>
        </pc:sldMkLst>
      </pc:sldChg>
      <pc:sldChg chg="modNotesTx">
        <pc:chgData name="(학부생) 정원준 (컴퓨터공학과)" userId="98b0a761-8945-472c-a518-db0ee97cc79b" providerId="ADAL" clId="{CD35C54A-2E40-4A1C-960A-691C08F8C0EE}" dt="2026-10-25T09:49:24.906" v="5" actId="20577"/>
        <pc:sldMkLst>
          <pc:docMk/>
          <pc:sldMk cId="2277750569" sldId="264"/>
        </pc:sldMkLst>
      </pc:sldChg>
      <pc:sldChg chg="del modNotesTx">
        <pc:chgData name="(학부생) 정원준 (컴퓨터공학과)" userId="98b0a761-8945-472c-a518-db0ee97cc79b" providerId="ADAL" clId="{CD35C54A-2E40-4A1C-960A-691C08F8C0EE}" dt="2026-10-25T10:04:34.266" v="95"/>
        <pc:sldMkLst>
          <pc:docMk/>
          <pc:sldMk cId="4186654909" sldId="265"/>
        </pc:sldMkLst>
      </pc:sldChg>
      <pc:sldChg chg="modSp mod modNotesTx">
        <pc:chgData name="(학부생) 정원준 (컴퓨터공학과)" userId="98b0a761-8945-472c-a518-db0ee97cc79b" providerId="ADAL" clId="{CD35C54A-2E40-4A1C-960A-691C08F8C0EE}" dt="2026-10-25T10:06:58.718" v="157" actId="20577"/>
        <pc:sldMkLst>
          <pc:docMk/>
          <pc:sldMk cId="0" sldId="266"/>
        </pc:sldMkLst>
        <pc:spChg chg="mod">
          <ac:chgData name="(학부생) 정원준 (컴퓨터공학과)" userId="98b0a761-8945-472c-a518-db0ee97cc79b" providerId="ADAL" clId="{CD35C54A-2E40-4A1C-960A-691C08F8C0EE}" dt="2026-10-25T10:06:58.718" v="157" actId="20577"/>
          <ac:spMkLst>
            <pc:docMk/>
            <pc:sldMk cId="0" sldId="266"/>
            <ac:spMk id="28" creationId="{00000000-0000-0000-0000-000000000000}"/>
          </ac:spMkLst>
        </pc:spChg>
      </pc:sldChg>
      <pc:sldChg chg="modSp del mod modNotesTx">
        <pc:chgData name="(학부생) 정원준 (컴퓨터공학과)" userId="98b0a761-8945-472c-a518-db0ee97cc79b" providerId="ADAL" clId="{CD35C54A-2E40-4A1C-960A-691C08F8C0EE}" dt="2026-10-25T09:56:27.828" v="76"/>
        <pc:sldMkLst>
          <pc:docMk/>
          <pc:sldMk cId="0" sldId="267"/>
        </pc:sldMkLst>
        <pc:spChg chg="mod">
          <ac:chgData name="(학부생) 정원준 (컴퓨터공학과)" userId="98b0a761-8945-472c-a518-db0ee97cc79b" providerId="ADAL" clId="{CD35C54A-2E40-4A1C-960A-691C08F8C0EE}" dt="2026-10-25T09:50:16.381" v="74" actId="20577"/>
          <ac:spMkLst>
            <pc:docMk/>
            <pc:sldMk cId="0" sldId="267"/>
            <ac:spMk id="14" creationId="{00000000-0000-0000-0000-000000000000}"/>
          </ac:spMkLst>
        </pc:spChg>
      </pc:sldChg>
      <pc:sldChg chg="modSp mod modNotesTx">
        <pc:chgData name="(학부생) 정원준 (컴퓨터공학과)" userId="98b0a761-8945-472c-a518-db0ee97cc79b" providerId="ADAL" clId="{CD35C54A-2E40-4A1C-960A-691C08F8C0EE}" dt="2026-10-25T10:21:19.413" v="187" actId="20577"/>
        <pc:sldMkLst>
          <pc:docMk/>
          <pc:sldMk cId="0" sldId="268"/>
        </pc:sldMkLst>
        <pc:spChg chg="mod">
          <ac:chgData name="(학부생) 정원준 (컴퓨터공학과)" userId="98b0a761-8945-472c-a518-db0ee97cc79b" providerId="ADAL" clId="{CD35C54A-2E40-4A1C-960A-691C08F8C0EE}" dt="2026-10-25T10:21:19.413" v="187" actId="20577"/>
          <ac:spMkLst>
            <pc:docMk/>
            <pc:sldMk cId="0" sldId="268"/>
            <ac:spMk id="18" creationId="{00000000-0000-0000-0000-000000000000}"/>
          </ac:spMkLst>
        </pc:spChg>
      </pc:sldChg>
      <pc:sldChg chg="modSp add del mod">
        <pc:chgData name="(학부생) 정원준 (컴퓨터공학과)" userId="98b0a761-8945-472c-a518-db0ee97cc79b" providerId="ADAL" clId="{CD35C54A-2E40-4A1C-960A-691C08F8C0EE}" dt="2026-10-25T10:05:13.981" v="112"/>
        <pc:sldMkLst>
          <pc:docMk/>
          <pc:sldMk cId="2130237845" sldId="269"/>
        </pc:sldMkLst>
        <pc:spChg chg="mod">
          <ac:chgData name="(학부생) 정원준 (컴퓨터공학과)" userId="98b0a761-8945-472c-a518-db0ee97cc79b" providerId="ADAL" clId="{CD35C54A-2E40-4A1C-960A-691C08F8C0EE}" dt="2026-10-25T10:00:03.425" v="89" actId="20577"/>
          <ac:spMkLst>
            <pc:docMk/>
            <pc:sldMk cId="2130237845" sldId="269"/>
            <ac:spMk id="11" creationId="{00000000-0000-0000-0000-000000000000}"/>
          </ac:spMkLst>
        </pc:spChg>
        <pc:spChg chg="mod">
          <ac:chgData name="(학부생) 정원준 (컴퓨터공학과)" userId="98b0a761-8945-472c-a518-db0ee97cc79b" providerId="ADAL" clId="{CD35C54A-2E40-4A1C-960A-691C08F8C0EE}" dt="2026-10-25T09:57:25.433" v="78" actId="20577"/>
          <ac:spMkLst>
            <pc:docMk/>
            <pc:sldMk cId="2130237845" sldId="269"/>
            <ac:spMk id="14" creationId="{00000000-0000-0000-0000-000000000000}"/>
          </ac:spMkLst>
        </pc:spChg>
      </pc:sldChg>
      <pc:sldChg chg="modSp add mod">
        <pc:chgData name="(학부생) 정원준 (컴퓨터공학과)" userId="98b0a761-8945-472c-a518-db0ee97cc79b" providerId="ADAL" clId="{CD35C54A-2E40-4A1C-960A-691C08F8C0EE}" dt="2026-10-25T10:03:58.600" v="93"/>
        <pc:sldMkLst>
          <pc:docMk/>
          <pc:sldMk cId="1131224647" sldId="270"/>
        </pc:sldMkLst>
        <pc:spChg chg="mod">
          <ac:chgData name="(학부생) 정원준 (컴퓨터공학과)" userId="98b0a761-8945-472c-a518-db0ee97cc79b" providerId="ADAL" clId="{CD35C54A-2E40-4A1C-960A-691C08F8C0EE}" dt="2026-10-25T10:03:58.600" v="93"/>
          <ac:spMkLst>
            <pc:docMk/>
            <pc:sldMk cId="1131224647" sldId="270"/>
            <ac:spMk id="6" creationId="{00000000-0000-0000-0000-000000000000}"/>
          </ac:spMkLst>
        </pc:spChg>
      </pc:sldChg>
      <pc:sldChg chg="modSp add del mod">
        <pc:chgData name="(학부생) 정원준 (컴퓨터공학과)" userId="98b0a761-8945-472c-a518-db0ee97cc79b" providerId="ADAL" clId="{CD35C54A-2E40-4A1C-960A-691C08F8C0EE}" dt="2026-10-25T10:04:51.197" v="110"/>
        <pc:sldMkLst>
          <pc:docMk/>
          <pc:sldMk cId="4279782043" sldId="271"/>
        </pc:sldMkLst>
        <pc:graphicFrameChg chg="modGraphic">
          <ac:chgData name="(학부생) 정원준 (컴퓨터공학과)" userId="98b0a761-8945-472c-a518-db0ee97cc79b" providerId="ADAL" clId="{CD35C54A-2E40-4A1C-960A-691C08F8C0EE}" dt="2026-10-25T10:04:44.147" v="108"/>
          <ac:graphicFrameMkLst>
            <pc:docMk/>
            <pc:sldMk cId="4279782043" sldId="271"/>
            <ac:graphicFrameMk id="5" creationId="{00000000-0000-0000-0000-000000000000}"/>
          </ac:graphicFrameMkLst>
        </pc:graphicFrameChg>
      </pc:sldChg>
      <pc:sldChg chg="modSp add mod">
        <pc:chgData name="(학부생) 정원준 (컴퓨터공학과)" userId="98b0a761-8945-472c-a518-db0ee97cc79b" providerId="ADAL" clId="{CD35C54A-2E40-4A1C-960A-691C08F8C0EE}" dt="2026-10-25T10:18:36.350" v="160" actId="20577"/>
        <pc:sldMkLst>
          <pc:docMk/>
          <pc:sldMk cId="625136899" sldId="272"/>
        </pc:sldMkLst>
        <pc:graphicFrameChg chg="modGraphic">
          <ac:chgData name="(학부생) 정원준 (컴퓨터공학과)" userId="98b0a761-8945-472c-a518-db0ee97cc79b" providerId="ADAL" clId="{CD35C54A-2E40-4A1C-960A-691C08F8C0EE}" dt="2026-10-25T10:18:36.350" v="160" actId="20577"/>
          <ac:graphicFrameMkLst>
            <pc:docMk/>
            <pc:sldMk cId="625136899" sldId="272"/>
            <ac:graphicFrameMk id="5" creationId="{00000000-0000-0000-0000-000000000000}"/>
          </ac:graphicFrameMkLst>
        </pc:graphicFrameChg>
      </pc:sldChg>
      <pc:sldChg chg="add del">
        <pc:chgData name="(학부생) 정원준 (컴퓨터공학과)" userId="98b0a761-8945-472c-a518-db0ee97cc79b" providerId="ADAL" clId="{CD35C54A-2E40-4A1C-960A-691C08F8C0EE}" dt="2026-10-25T10:05:32.865" v="114"/>
        <pc:sldMkLst>
          <pc:docMk/>
          <pc:sldMk cId="2120564410" sldId="273"/>
        </pc:sldMkLst>
      </pc:sldChg>
      <pc:sldChg chg="add del">
        <pc:chgData name="(학부생) 정원준 (컴퓨터공학과)" userId="98b0a761-8945-472c-a518-db0ee97cc79b" providerId="ADAL" clId="{CD35C54A-2E40-4A1C-960A-691C08F8C0EE}" dt="2026-10-25T10:05:49.231" v="117"/>
        <pc:sldMkLst>
          <pc:docMk/>
          <pc:sldMk cId="2008407011" sldId="274"/>
        </pc:sldMkLst>
      </pc:sldChg>
      <pc:sldChg chg="modSp add mod">
        <pc:chgData name="(학부생) 정원준 (컴퓨터공학과)" userId="98b0a761-8945-472c-a518-db0ee97cc79b" providerId="ADAL" clId="{CD35C54A-2E40-4A1C-960A-691C08F8C0EE}" dt="2026-10-25T10:06:30.630" v="154" actId="20577"/>
        <pc:sldMkLst>
          <pc:docMk/>
          <pc:sldMk cId="1499031215" sldId="275"/>
        </pc:sldMkLst>
        <pc:spChg chg="mod">
          <ac:chgData name="(학부생) 정원준 (컴퓨터공학과)" userId="98b0a761-8945-472c-a518-db0ee97cc79b" providerId="ADAL" clId="{CD35C54A-2E40-4A1C-960A-691C08F8C0EE}" dt="2026-10-25T10:06:30.630" v="154" actId="20577"/>
          <ac:spMkLst>
            <pc:docMk/>
            <pc:sldMk cId="1499031215" sldId="275"/>
            <ac:spMk id="26" creationId="{00000000-0000-0000-0000-000000000000}"/>
          </ac:spMkLst>
        </pc:spChg>
      </pc:sldChg>
    </pc:docChg>
  </pc:docChgLst>
  <pc:docChgLst>
    <pc:chgData name="(학부생) 강민진 (컴퓨터공학과)" userId="S::kr2inkt@unist.ac.kr::0e4e4f66-09a2-4ed9-8680-6e93e4699324" providerId="AD" clId="Web-{AD793654-0E7A-9766-D52C-6304A913B569}"/>
    <pc:docChg chg="modSld">
      <pc:chgData name="(학부생) 강민진 (컴퓨터공학과)" userId="S::kr2inkt@unist.ac.kr::0e4e4f66-09a2-4ed9-8680-6e93e4699324" providerId="AD" clId="Web-{AD793654-0E7A-9766-D52C-6304A913B569}" dt="2026-10-25T10:18:55.223" v="2"/>
      <pc:docMkLst>
        <pc:docMk/>
      </pc:docMkLst>
      <pc:sldChg chg="modSp">
        <pc:chgData name="(학부생) 강민진 (컴퓨터공학과)" userId="S::kr2inkt@unist.ac.kr::0e4e4f66-09a2-4ed9-8680-6e93e4699324" providerId="AD" clId="Web-{AD793654-0E7A-9766-D52C-6304A913B569}" dt="2026-10-25T10:17:59.190" v="0" actId="20577"/>
        <pc:sldMkLst>
          <pc:docMk/>
          <pc:sldMk cId="1131224647" sldId="270"/>
        </pc:sldMkLst>
        <pc:spChg chg="mod">
          <ac:chgData name="(학부생) 강민진 (컴퓨터공학과)" userId="S::kr2inkt@unist.ac.kr::0e4e4f66-09a2-4ed9-8680-6e93e4699324" providerId="AD" clId="Web-{AD793654-0E7A-9766-D52C-6304A913B569}" dt="2026-10-25T10:17:59.190" v="0" actId="20577"/>
          <ac:spMkLst>
            <pc:docMk/>
            <pc:sldMk cId="1131224647" sldId="270"/>
            <ac:spMk id="6" creationId="{00000000-0000-0000-0000-000000000000}"/>
          </ac:spMkLst>
        </pc:spChg>
      </pc:sldChg>
      <pc:sldChg chg="modSp">
        <pc:chgData name="(학부생) 강민진 (컴퓨터공학과)" userId="S::kr2inkt@unist.ac.kr::0e4e4f66-09a2-4ed9-8680-6e93e4699324" providerId="AD" clId="Web-{AD793654-0E7A-9766-D52C-6304A913B569}" dt="2026-10-25T10:18:55.223" v="2"/>
        <pc:sldMkLst>
          <pc:docMk/>
          <pc:sldMk cId="625136899" sldId="272"/>
        </pc:sldMkLst>
        <pc:graphicFrameChg chg="modGraphic">
          <ac:chgData name="(학부생) 강민진 (컴퓨터공학과)" userId="S::kr2inkt@unist.ac.kr::0e4e4f66-09a2-4ed9-8680-6e93e4699324" providerId="AD" clId="Web-{AD793654-0E7A-9766-D52C-6304A913B569}" dt="2026-10-25T10:18:55.223" v="2"/>
          <ac:graphicFrameMkLst>
            <pc:docMk/>
            <pc:sldMk cId="625136899" sldId="272"/>
            <ac:graphicFrameMk id="5" creationId="{00000000-0000-0000-0000-000000000000}"/>
          </ac:graphicFrameMkLst>
        </pc:graphicFrameChg>
      </pc:sldChg>
    </pc:docChg>
  </pc:docChgLst>
  <pc:docChgLst>
    <pc:chgData name="(학부생) 최유진 (물리학과)" userId="S::choiyj060801@unist.ac.kr::32bfa8e1-5ae8-4052-954a-30902238bc78" providerId="AD" clId="Web-{346435FA-081D-D2DA-645F-3E9BD85A1FA8}"/>
    <pc:docChg chg="modSld">
      <pc:chgData name="(학부생) 최유진 (물리학과)" userId="S::choiyj060801@unist.ac.kr::32bfa8e1-5ae8-4052-954a-30902238bc78" providerId="AD" clId="Web-{346435FA-081D-D2DA-645F-3E9BD85A1FA8}" dt="2026-10-25T09:51:14.569" v="47" actId="20577"/>
      <pc:docMkLst>
        <pc:docMk/>
      </pc:docMkLst>
      <pc:sldChg chg="delSp modSp">
        <pc:chgData name="(학부생) 최유진 (물리학과)" userId="S::choiyj060801@unist.ac.kr::32bfa8e1-5ae8-4052-954a-30902238bc78" providerId="AD" clId="Web-{346435FA-081D-D2DA-645F-3E9BD85A1FA8}" dt="2026-10-25T09:49:16.018" v="37" actId="1076"/>
        <pc:sldMkLst>
          <pc:docMk/>
          <pc:sldMk cId="0" sldId="266"/>
        </pc:sldMkLst>
        <pc:spChg chg="del">
          <ac:chgData name="(학부생) 최유진 (물리학과)" userId="S::choiyj060801@unist.ac.kr::32bfa8e1-5ae8-4052-954a-30902238bc78" providerId="AD" clId="Web-{346435FA-081D-D2DA-645F-3E9BD85A1FA8}" dt="2026-10-25T09:49:02.284" v="3"/>
          <ac:spMkLst>
            <pc:docMk/>
            <pc:sldMk cId="0" sldId="266"/>
            <ac:spMk id="6" creationId="{00000000-0000-0000-0000-000000000000}"/>
          </ac:spMkLst>
        </pc:spChg>
        <pc:spChg chg="del">
          <ac:chgData name="(학부생) 최유진 (물리학과)" userId="S::choiyj060801@unist.ac.kr::32bfa8e1-5ae8-4052-954a-30902238bc78" providerId="AD" clId="Web-{346435FA-081D-D2DA-645F-3E9BD85A1FA8}" dt="2026-10-25T09:49:02.284" v="2"/>
          <ac:spMkLst>
            <pc:docMk/>
            <pc:sldMk cId="0" sldId="266"/>
            <ac:spMk id="7" creationId="{00000000-0000-0000-0000-000000000000}"/>
          </ac:spMkLst>
        </pc:spChg>
        <pc:spChg chg="del">
          <ac:chgData name="(학부생) 최유진 (물리학과)" userId="S::choiyj060801@unist.ac.kr::32bfa8e1-5ae8-4052-954a-30902238bc78" providerId="AD" clId="Web-{346435FA-081D-D2DA-645F-3E9BD85A1FA8}" dt="2026-10-25T09:49:02.284" v="0"/>
          <ac:spMkLst>
            <pc:docMk/>
            <pc:sldMk cId="0" sldId="266"/>
            <ac:spMk id="9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784" v="21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800" v="22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831" v="24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847" v="25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862" v="26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878" v="28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893" v="29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909" v="30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940" v="32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956" v="33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5.972" v="34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6.003" v="36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(학부생) 최유진 (물리학과)" userId="S::choiyj060801@unist.ac.kr::32bfa8e1-5ae8-4052-954a-30902238bc78" providerId="AD" clId="Web-{346435FA-081D-D2DA-645F-3E9BD85A1FA8}" dt="2026-10-25T09:49:16.018" v="37" actId="1076"/>
          <ac:spMkLst>
            <pc:docMk/>
            <pc:sldMk cId="0" sldId="266"/>
            <ac:spMk id="26" creationId="{00000000-0000-0000-0000-000000000000}"/>
          </ac:spMkLst>
        </pc:spChg>
        <pc:cxnChg chg="del">
          <ac:chgData name="(학부생) 최유진 (물리학과)" userId="S::choiyj060801@unist.ac.kr::32bfa8e1-5ae8-4052-954a-30902238bc78" providerId="AD" clId="Web-{346435FA-081D-D2DA-645F-3E9BD85A1FA8}" dt="2026-10-25T09:49:02.284" v="1"/>
          <ac:cxnSpMkLst>
            <pc:docMk/>
            <pc:sldMk cId="0" sldId="266"/>
            <ac:cxnSpMk id="8" creationId="{00000000-0000-0000-0000-000000000000}"/>
          </ac:cxnSpMkLst>
        </pc:cxnChg>
        <pc:cxnChg chg="mod">
          <ac:chgData name="(학부생) 최유진 (물리학과)" userId="S::choiyj060801@unist.ac.kr::32bfa8e1-5ae8-4052-954a-30902238bc78" providerId="AD" clId="Web-{346435FA-081D-D2DA-645F-3E9BD85A1FA8}" dt="2026-10-25T09:49:15.815" v="23" actId="1076"/>
          <ac:cxnSpMkLst>
            <pc:docMk/>
            <pc:sldMk cId="0" sldId="266"/>
            <ac:cxnSpMk id="12" creationId="{00000000-0000-0000-0000-000000000000}"/>
          </ac:cxnSpMkLst>
        </pc:cxnChg>
        <pc:cxnChg chg="mod">
          <ac:chgData name="(학부생) 최유진 (물리학과)" userId="S::choiyj060801@unist.ac.kr::32bfa8e1-5ae8-4052-954a-30902238bc78" providerId="AD" clId="Web-{346435FA-081D-D2DA-645F-3E9BD85A1FA8}" dt="2026-10-25T09:49:15.862" v="27" actId="1076"/>
          <ac:cxnSpMkLst>
            <pc:docMk/>
            <pc:sldMk cId="0" sldId="266"/>
            <ac:cxnSpMk id="16" creationId="{00000000-0000-0000-0000-000000000000}"/>
          </ac:cxnSpMkLst>
        </pc:cxnChg>
        <pc:cxnChg chg="mod">
          <ac:chgData name="(학부생) 최유진 (물리학과)" userId="S::choiyj060801@unist.ac.kr::32bfa8e1-5ae8-4052-954a-30902238bc78" providerId="AD" clId="Web-{346435FA-081D-D2DA-645F-3E9BD85A1FA8}" dt="2026-10-25T09:49:15.925" v="31" actId="1076"/>
          <ac:cxnSpMkLst>
            <pc:docMk/>
            <pc:sldMk cId="0" sldId="266"/>
            <ac:cxnSpMk id="20" creationId="{00000000-0000-0000-0000-000000000000}"/>
          </ac:cxnSpMkLst>
        </pc:cxnChg>
        <pc:cxnChg chg="mod">
          <ac:chgData name="(학부생) 최유진 (물리학과)" userId="S::choiyj060801@unist.ac.kr::32bfa8e1-5ae8-4052-954a-30902238bc78" providerId="AD" clId="Web-{346435FA-081D-D2DA-645F-3E9BD85A1FA8}" dt="2026-10-25T09:49:15.987" v="35" actId="1076"/>
          <ac:cxnSpMkLst>
            <pc:docMk/>
            <pc:sldMk cId="0" sldId="266"/>
            <ac:cxnSpMk id="24" creationId="{00000000-0000-0000-0000-000000000000}"/>
          </ac:cxnSpMkLst>
        </pc:cxnChg>
      </pc:sldChg>
      <pc:sldChg chg="modSp">
        <pc:chgData name="(학부생) 최유진 (물리학과)" userId="S::choiyj060801@unist.ac.kr::32bfa8e1-5ae8-4052-954a-30902238bc78" providerId="AD" clId="Web-{346435FA-081D-D2DA-645F-3E9BD85A1FA8}" dt="2026-10-25T09:51:14.569" v="47" actId="20577"/>
        <pc:sldMkLst>
          <pc:docMk/>
          <pc:sldMk cId="0" sldId="267"/>
        </pc:sldMkLst>
        <pc:spChg chg="mod">
          <ac:chgData name="(학부생) 최유진 (물리학과)" userId="S::choiyj060801@unist.ac.kr::32bfa8e1-5ae8-4052-954a-30902238bc78" providerId="AD" clId="Web-{346435FA-081D-D2DA-645F-3E9BD85A1FA8}" dt="2026-10-25T09:51:14.569" v="47" actId="20577"/>
          <ac:spMkLst>
            <pc:docMk/>
            <pc:sldMk cId="0" sldId="267"/>
            <ac:spMk id="11" creationId="{00000000-0000-0000-0000-000000000000}"/>
          </ac:spMkLst>
        </pc:spChg>
      </pc:sldChg>
    </pc:docChg>
  </pc:docChgLst>
  <pc:docChgLst>
    <pc:chgData name="(학부생) 최유진 (물리학과)" userId="S::choiyj060801@unist.ac.kr::32bfa8e1-5ae8-4052-954a-30902238bc78" providerId="AD" clId="Web-{FE1B7901-16F3-83B9-B749-84CE0C6E7D59}"/>
    <pc:docChg chg="modSld">
      <pc:chgData name="(학부생) 최유진 (물리학과)" userId="S::choiyj060801@unist.ac.kr::32bfa8e1-5ae8-4052-954a-30902238bc78" providerId="AD" clId="Web-{FE1B7901-16F3-83B9-B749-84CE0C6E7D59}" dt="2026-10-25T10:20:57.938" v="2" actId="20577"/>
      <pc:docMkLst>
        <pc:docMk/>
      </pc:docMkLst>
      <pc:sldChg chg="modSp">
        <pc:chgData name="(학부생) 최유진 (물리학과)" userId="S::choiyj060801@unist.ac.kr::32bfa8e1-5ae8-4052-954a-30902238bc78" providerId="AD" clId="Web-{FE1B7901-16F3-83B9-B749-84CE0C6E7D59}" dt="2026-10-25T10:20:57.938" v="2" actId="20577"/>
        <pc:sldMkLst>
          <pc:docMk/>
          <pc:sldMk cId="4243038893" sldId="256"/>
        </pc:sldMkLst>
        <pc:spChg chg="mod">
          <ac:chgData name="(학부생) 최유진 (물리학과)" userId="S::choiyj060801@unist.ac.kr::32bfa8e1-5ae8-4052-954a-30902238bc78" providerId="AD" clId="Web-{FE1B7901-16F3-83B9-B749-84CE0C6E7D59}" dt="2026-10-25T10:20:57.938" v="2" actId="20577"/>
          <ac:spMkLst>
            <pc:docMk/>
            <pc:sldMk cId="4243038893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A77BB-24CA-BC4C-9E65-366BA4586D29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E11AD-DC9C-214B-8DED-95B867D7B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3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E11AD-DC9C-214B-8DED-95B867D7BD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05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AE4A-8182-7D4B-9E17-CDA11ACE5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092B2-9C36-BD4B-8369-8D6AD0D2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AFDC5-A8D5-274A-9CBA-EB29DD44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566BE-5747-6846-969D-E4A036ABD52C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4A25D-9025-B24B-B399-803A281B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2B29D-42A4-D340-BC59-AF93B6710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8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1522-DEC8-0A46-B488-4546B2CA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9B75-4020-304C-8016-69EF86EF9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BF111-B681-3B4B-9801-B069AC26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0BE-D89E-654E-A095-B11AAF53FAC6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23FB-A69D-744D-9468-2E213F3C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D990-4DCB-AA43-A0AF-FC4D85D2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0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253C-E624-3A47-BF3D-12F73A29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6977D-6342-D945-BD62-D6D7CF2F5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FA023-9A22-4342-9436-3972DEFD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5399-E6E1-204E-9B0D-F674E881C19F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D5D7D-90E1-BC42-B947-2731A35A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A9CEF-0150-C84D-B344-C2F0EEEC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3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5C72-4254-884B-B4FF-28C80156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BE145-7CE3-9D4D-BD83-E6E7DDA04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CDD19-3347-484A-A64B-83A852F72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2CECC-21C5-604C-A2B9-008DF726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E06-4B37-934F-916F-6891E0B2DA14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60ACE-F1E6-5346-971E-3E23D9D4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ED8F6-1A46-AC4C-9332-CE0A7A05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1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0A57-0F11-5B4A-BFFC-A2828756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DC965-541D-DA46-AAF7-9BF2A44EA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DC568-AF5C-5A44-A8B4-47651573B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00FC0-3143-784E-8F07-86133B812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32BB9-1B01-E149-A7DE-D9B2E5E7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5935B-4605-3841-862D-5BA980AD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3EC8-1ABC-9348-BB3F-C84B06F08BA8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06985-BDDD-734E-88B5-7996A48E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B1C07-82B5-CC41-8722-C791944C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7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05D4-D029-5D48-96D6-12E03322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63776-03DF-4245-B968-ADD186CF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FA22C-983B-594A-A0EF-E15D3F0432B4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66CD5-2E91-8A47-8145-BC3A210D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48811-B543-9040-86BC-5C4B07F7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8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543DE-C729-F94C-98C8-34ABC450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0F8EA-9792-5B40-A765-6771C1AD8222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EB692-C3D2-9845-9D40-D50B4871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C5DB7-E60D-814E-8C34-351AB1D1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7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15D9-53C8-2B41-908F-D73617C7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6DAE2-9AA7-F149-87B1-9479F47A9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CC76D-7A7C-AB4F-9D3D-D2CB490B6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13066-0E7A-8847-89C4-37878BBE3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E606-E100-2D4F-8BAB-2C46CA651987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A0DB1-98ED-B04C-99B4-12AE3AEE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18B43-C712-C347-AC2C-C65E62B8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3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AF85-AA11-2643-8D5F-F0A690CB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9156F-7536-7142-976F-53FE72737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32B2-C151-2E41-9520-3DF2D5258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EF6EC-ECA5-2E4B-A0B9-EBA5FA5D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E0319-A142-E64E-BF6B-7DD8776FD6FE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623A6-0B0E-9248-8448-2256844B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43B4-66F0-C642-AAC4-820669B8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7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7607-2D4D-C244-B58A-79A7B309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FF585-341E-AC4D-A350-8E8298160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DB59A-BAC7-754F-931D-8A7C36FC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46E16-495D-894B-AC23-7902E2891410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B45B3-D152-DB47-A67B-BD490D6E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83A4F-61CB-CC4B-BE07-042409C0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3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32E23-23C5-6D4B-89CB-A570E3ED0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938AF-44E3-C846-8872-4789F8318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34AD8-B8E4-2C40-9826-F77323CD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53A1-CDD2-E449-81B2-7C8F2B7D3931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558E-C5F7-EB4E-9662-BA439BB0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565D-93B7-A14C-A535-EC4F868F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EE6A4-0B1F-0743-8D7C-507361DF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06268-0DA5-8145-82BA-165B06557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5EDF1-7A5D-2046-89AB-423A35CB0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3DABB-12E2-BA46-B814-51C5046A9ACE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5BD57-4BD4-3A4F-80FA-65720373E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8CBED-A1FD-7442-B09C-86D734619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35BC-DCA2-B745-8847-BA13024B5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2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6980-8CDB-B746-B465-2FE094E70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1737360"/>
            <a:ext cx="6583680" cy="1188720"/>
          </a:xfrm>
        </p:spPr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1B2220"/>
                </a:solidFill>
              </a:rPr>
              <a:t>Count &amp; 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5D6864"/>
                </a:solidFill>
              </a:rPr>
              <a:t>Switch pens and tune stroke size in one bimanual gesture,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5D6864"/>
                </a:solidFill>
              </a:rPr>
              <a:t>with no toolbar and no extra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6400800" cy="469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dirty="0">
                <a:solidFill>
                  <a:srgbClr val="1B2220"/>
                </a:solidFill>
              </a:rPr>
              <a:t>CSE333 Proposal · Team 4</a:t>
            </a:r>
          </a:p>
          <a:p>
            <a:pPr algn="l">
              <a:spcAft>
                <a:spcPts val="300"/>
              </a:spcAft>
            </a:pPr>
            <a:r>
              <a:rPr lang="en-US" sz="1400" dirty="0">
                <a:solidFill>
                  <a:srgbClr val="1B2220"/>
                </a:solidFill>
              </a:rPr>
              <a:t>Know</a:t>
            </a:r>
            <a:r>
              <a:rPr sz="1400" b="0" i="0" dirty="0">
                <a:solidFill>
                  <a:srgbClr val="1B2220"/>
                </a:solidFill>
              </a:rPr>
              <a:t> </a:t>
            </a:r>
            <a:r>
              <a:rPr sz="1400" b="0" i="0" dirty="0" err="1">
                <a:solidFill>
                  <a:srgbClr val="1B2220"/>
                </a:solidFill>
              </a:rPr>
              <a:t>TaeLim</a:t>
            </a:r>
            <a:r>
              <a:rPr sz="1400" b="0" i="0" dirty="0">
                <a:solidFill>
                  <a:srgbClr val="1B2220"/>
                </a:solidFill>
              </a:rPr>
              <a:t> · Kang </a:t>
            </a:r>
            <a:r>
              <a:rPr lang="en-US" sz="1400" b="0" i="0">
                <a:solidFill>
                  <a:srgbClr val="1B2220"/>
                </a:solidFill>
              </a:rPr>
              <a:t>MinJin</a:t>
            </a:r>
            <a:r>
              <a:rPr sz="1400" b="0" i="0" dirty="0">
                <a:solidFill>
                  <a:srgbClr val="1B2220"/>
                </a:solidFill>
              </a:rPr>
              <a:t> · Choi </a:t>
            </a:r>
            <a:r>
              <a:rPr lang="af-ZA" sz="1400">
                <a:solidFill>
                  <a:srgbClr val="1B2220"/>
                </a:solidFill>
              </a:rPr>
              <a:t>YuJin</a:t>
            </a:r>
            <a:r>
              <a:rPr sz="1400" b="0" i="0" dirty="0">
                <a:solidFill>
                  <a:srgbClr val="1B2220"/>
                </a:solidFill>
              </a:rPr>
              <a:t> · Jung </a:t>
            </a:r>
            <a:r>
              <a:rPr lang="en-US" sz="1400" b="0" i="0">
                <a:solidFill>
                  <a:srgbClr val="1B2220"/>
                </a:solidFill>
              </a:rPr>
              <a:t>Wonjun</a:t>
            </a:r>
            <a:endParaRPr sz="1400" b="0" i="0" dirty="0">
              <a:solidFill>
                <a:srgbClr val="1B222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357615" y="287121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49055" y="341985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397763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C8620C"/>
                </a:solidFill>
              </a:rPr>
              <a:t>2 fingers</a:t>
            </a:r>
          </a:p>
        </p:txBody>
      </p:sp>
      <p:sp>
        <p:nvSpPr>
          <p:cNvPr id="10" name="Oval 9"/>
          <p:cNvSpPr/>
          <p:nvPr/>
        </p:nvSpPr>
        <p:spPr>
          <a:xfrm>
            <a:off x="10081259" y="3131820"/>
            <a:ext cx="320040" cy="320040"/>
          </a:xfrm>
          <a:prstGeom prst="ellipse">
            <a:avLst/>
          </a:prstGeom>
          <a:noFill/>
          <a:ln w="15875">
            <a:solidFill>
              <a:srgbClr val="1F5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66959" y="3017520"/>
            <a:ext cx="548640" cy="548640"/>
          </a:xfrm>
          <a:prstGeom prst="ellipse">
            <a:avLst/>
          </a:prstGeom>
          <a:noFill/>
          <a:ln w="15875">
            <a:solidFill>
              <a:srgbClr val="1F5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29800" y="2880360"/>
            <a:ext cx="822960" cy="822960"/>
          </a:xfrm>
          <a:prstGeom prst="ellipse">
            <a:avLst/>
          </a:prstGeom>
          <a:noFill/>
          <a:ln w="285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86415" y="3236976"/>
            <a:ext cx="109728" cy="10972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9646920" y="4069080"/>
            <a:ext cx="1234440" cy="0"/>
          </a:xfrm>
          <a:prstGeom prst="line">
            <a:avLst/>
          </a:prstGeom>
          <a:ln w="2222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0" y="41605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F5FBF"/>
                </a:solidFill>
              </a:rPr>
              <a:t>drag =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F5FBF"/>
                </a:solidFill>
              </a:rPr>
              <a:t>slot 2 · 6 pt</a:t>
            </a:r>
          </a:p>
        </p:txBody>
      </p:sp>
    </p:spTree>
    <p:extLst>
      <p:ext uri="{BB962C8B-B14F-4D97-AF65-F5344CB8AC3E}">
        <p14:creationId xmlns:p14="http://schemas.microsoft.com/office/powerpoint/2010/main" val="4243038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5310-B370-D616-DC67-B9073958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Background &amp;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773A2-F2C7-4441-0151-FD334AC4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309360" cy="2115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4940" algn="l">
              <a:spcAft>
                <a:spcPts val="700"/>
              </a:spcAft>
              <a:buChar char="•"/>
            </a:pPr>
            <a:r>
              <a:rPr sz="1500" b="0" i="0" dirty="0">
                <a:solidFill>
                  <a:srgbClr val="1B2220"/>
                </a:solidFill>
              </a:rPr>
              <a:t>Switching pens and resizing a stroke means leaving the canvas: toolbar → pick pen → size slider → back. The bigger the screen, the longer the trip.</a:t>
            </a:r>
            <a:endParaRPr lang="en-US" dirty="0"/>
          </a:p>
          <a:p>
            <a:pPr marL="182880" indent="-154940" algn="l">
              <a:spcAft>
                <a:spcPts val="700"/>
              </a:spcAft>
              <a:buChar char="•"/>
            </a:pPr>
            <a:r>
              <a:rPr sz="1500" b="0" i="0" dirty="0">
                <a:solidFill>
                  <a:srgbClr val="1B2220"/>
                </a:solidFill>
              </a:rPr>
              <a:t>Desktop painters use modifier keys (e.g., </a:t>
            </a:r>
            <a:r>
              <a:rPr lang="en-US" sz="1500" b="0" i="0" err="1">
                <a:solidFill>
                  <a:srgbClr val="1B2220"/>
                </a:solidFill>
              </a:rPr>
              <a:t>Ctrl+Alt+drag</a:t>
            </a:r>
            <a:r>
              <a:rPr sz="1500" b="0" i="0" dirty="0">
                <a:solidFill>
                  <a:srgbClr val="1B2220"/>
                </a:solidFill>
              </a:rPr>
              <a:t> resizes the brush). Tablets have none.</a:t>
            </a:r>
            <a:endParaRPr lang="ko-KR" altLang="en-US" sz="1500" b="0" i="0" dirty="0">
              <a:solidFill>
                <a:srgbClr val="1B2220"/>
              </a:solidFill>
              <a:ea typeface="Calibri" panose="020F0502020204030204"/>
              <a:cs typeface="Calibri" panose="020F0502020204030204"/>
            </a:endParaRPr>
          </a:p>
          <a:p>
            <a:pPr marL="182880" indent="-154940" algn="l">
              <a:spcAft>
                <a:spcPts val="700"/>
              </a:spcAft>
              <a:buChar char="•"/>
            </a:pPr>
            <a:r>
              <a:rPr sz="1500" b="0" i="0" dirty="0">
                <a:solidFill>
                  <a:srgbClr val="1B2220"/>
                </a:solidFill>
              </a:rPr>
              <a:t>Apple Pencil 2 double-tap only toggles the eraser or last tool, or opens the color palette. In-flow resizing (Procreate hover) needs an iPad Pro M2+.</a:t>
            </a:r>
            <a:endParaRPr lang="ko-KR" altLang="en-US" sz="1500" b="0" i="0" dirty="0">
              <a:solidFill>
                <a:srgbClr val="1B2220"/>
              </a:solidFill>
              <a:ea typeface="Calibri" panose="020F0502020204030204"/>
              <a:cs typeface="Calibri" panose="020F0502020204030204"/>
            </a:endParaRPr>
          </a:p>
          <a:p>
            <a:pPr marL="182880" indent="-154940" algn="l">
              <a:spcAft>
                <a:spcPts val="700"/>
              </a:spcAft>
              <a:buChar char="•"/>
            </a:pPr>
            <a:r>
              <a:rPr lang="en-US" sz="1500" b="0" i="0" dirty="0">
                <a:solidFill>
                  <a:srgbClr val="1B2220"/>
                </a:solidFill>
              </a:rPr>
              <a:t>Users ask for faster pen and size switching: </a:t>
            </a:r>
            <a:r>
              <a:rPr lang="en-US" sz="1500" b="0" i="0">
                <a:solidFill>
                  <a:srgbClr val="1B2220"/>
                </a:solidFill>
              </a:rPr>
              <a:t>GoodNotes</a:t>
            </a:r>
            <a:r>
              <a:rPr lang="en-US" sz="1500" b="0" i="0" dirty="0">
                <a:solidFill>
                  <a:srgbClr val="1B2220"/>
                </a:solidFill>
              </a:rPr>
              <a:t>’ “favorite pens as tools” request has about 1,900 votes since 2015.</a:t>
            </a:r>
            <a:r>
              <a:rPr lang="en-US" sz="1500" b="0" i="0" baseline="30000" dirty="0">
                <a:solidFill>
                  <a:srgbClr val="1B2220"/>
                </a:solidFill>
              </a:rPr>
              <a:t>1</a:t>
            </a:r>
            <a:endParaRPr lang="en-US" sz="1500" b="0" i="0" baseline="30000" dirty="0">
              <a:solidFill>
                <a:srgbClr val="1B222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41097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Target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120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220"/>
                </a:solidFill>
              </a:rPr>
              <a:t>iPadOS users with tablet note-taking experience who rotate among 2–3 pens (e.g., black pen, yellow highlighter, red pen).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344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D6864"/>
                </a:solidFill>
              </a:rPr>
              <a:t>Today: 4 steps away from the 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45920"/>
            <a:ext cx="932688" cy="502920"/>
          </a:xfrm>
          <a:prstGeom prst="roundRect">
            <a:avLst>
              <a:gd name="adj" fmla="val 8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sz="1200" b="0">
                <a:solidFill>
                  <a:srgbClr val="1B2220"/>
                </a:solidFill>
              </a:rPr>
              <a:t>Toolbar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1897380"/>
            <a:ext cx="164593" cy="0"/>
          </a:xfrm>
          <a:prstGeom prst="line">
            <a:avLst/>
          </a:prstGeom>
          <a:ln w="15875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75904" y="1645920"/>
            <a:ext cx="932688" cy="502920"/>
          </a:xfrm>
          <a:prstGeom prst="roundRect">
            <a:avLst>
              <a:gd name="adj" fmla="val 8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sz="1200" b="0">
                <a:solidFill>
                  <a:srgbClr val="1B2220"/>
                </a:solidFill>
              </a:rPr>
              <a:t>Pick pen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36024" y="1897380"/>
            <a:ext cx="164592" cy="0"/>
          </a:xfrm>
          <a:prstGeom prst="line">
            <a:avLst/>
          </a:prstGeom>
          <a:ln w="15875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28048" y="1645920"/>
            <a:ext cx="932688" cy="502920"/>
          </a:xfrm>
          <a:prstGeom prst="roundRect">
            <a:avLst>
              <a:gd name="adj" fmla="val 8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sz="1200" b="0">
                <a:solidFill>
                  <a:srgbClr val="1B2220"/>
                </a:solidFill>
              </a:rPr>
              <a:t>Size slider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88167" y="1897380"/>
            <a:ext cx="164593" cy="0"/>
          </a:xfrm>
          <a:prstGeom prst="line">
            <a:avLst/>
          </a:prstGeom>
          <a:ln w="15875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680192" y="1645920"/>
            <a:ext cx="932688" cy="502920"/>
          </a:xfrm>
          <a:prstGeom prst="roundRect">
            <a:avLst>
              <a:gd name="adj" fmla="val 8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sz="1200" b="0">
                <a:solidFill>
                  <a:srgbClr val="1B2220"/>
                </a:solidFill>
              </a:rPr>
              <a:t>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5FBF"/>
                </a:solidFill>
              </a:rPr>
              <a:t>Count &amp; Tune: 1 gesture on the 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FBEBDC"/>
          </a:solidFill>
          <a:ln w="127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>
                <a:solidFill>
                  <a:srgbClr val="C8620C"/>
                </a:solidFill>
              </a:rPr>
              <a:t>Fingers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5D6864"/>
                </a:solidFill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788920"/>
            <a:ext cx="2075688" cy="502920"/>
          </a:xfrm>
          <a:prstGeom prst="roundRect">
            <a:avLst>
              <a:gd name="adj" fmla="val 8000"/>
            </a:avLst>
          </a:prstGeom>
          <a:solidFill>
            <a:srgbClr val="E4ECF8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>
                <a:solidFill>
                  <a:srgbClr val="1F5FBF"/>
                </a:solidFill>
              </a:rPr>
              <a:t>Pen drags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747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Goal and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858768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Useful  </a:t>
            </a:r>
            <a:r>
              <a:rPr sz="1300" b="0" i="0">
                <a:solidFill>
                  <a:srgbClr val="1B2220"/>
                </a:solidFill>
              </a:rPr>
              <a:t>fewer trips to the toolbar while writing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Interesting  </a:t>
            </a:r>
            <a:r>
              <a:rPr sz="1300" b="0" i="0">
                <a:solidFill>
                  <a:srgbClr val="1B2220"/>
                </a:solidFill>
              </a:rPr>
              <a:t>discrete choice + continuous tuning in one gesture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Important  </a:t>
            </a:r>
            <a:r>
              <a:rPr sz="1300" b="0" i="0">
                <a:solidFill>
                  <a:srgbClr val="1B2220"/>
                </a:solidFill>
              </a:rPr>
              <a:t>pen + touch combinations lack controlled evaluation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/>
            <a:r>
              <a:rPr sz="1500" b="1">
                <a:solidFill>
                  <a:srgbClr val="1F5FBF"/>
                </a:solidFill>
              </a:rPr>
              <a:t>Research question  </a:t>
            </a:r>
            <a:r>
              <a:rPr sz="1500" b="0">
                <a:solidFill>
                  <a:srgbClr val="1B2220"/>
                </a:solidFill>
              </a:rPr>
              <a:t>Can choosing a pen by finger count and tuning its size by pen drag, done as one bimanual gesture, cut switching time and flow interruption compared with toolbar + slider?</a:t>
            </a:r>
          </a:p>
        </p:txBody>
      </p:sp>
      <p:sp>
        <p:nvSpPr>
          <p:cNvPr id="24" name="Footnote"/>
          <p:cNvSpPr txBox="1"/>
          <p:nvPr/>
        </p:nvSpPr>
        <p:spPr>
          <a:xfrm>
            <a:off x="546100" y="6311900"/>
            <a:ext cx="7874000" cy="254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r>
              <a:rPr lang="en-US" sz="1000" dirty="0">
                <a:solidFill>
                  <a:srgbClr val="6B7280"/>
                </a:solidFill>
              </a:rPr>
              <a:t>1  Source: GoodNotes Customer Suggestions forum, “Favorites pens as tools” (posted 2015); vote count accessed Oct 2026.</a:t>
            </a:r>
          </a:p>
        </p:txBody>
      </p:sp>
    </p:spTree>
    <p:extLst>
      <p:ext uri="{BB962C8B-B14F-4D97-AF65-F5344CB8AC3E}">
        <p14:creationId xmlns:p14="http://schemas.microsoft.com/office/powerpoint/2010/main" val="113122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0A9-733F-01C1-A9FA-26E9FA4A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Conceptual Sketch · Count: Fingers Pick the Pen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A9BF2-EFFF-25B6-D395-7F7CFF69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93592" cy="201168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905256" y="204825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554480" y="2240280"/>
            <a:ext cx="457200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48840" y="1554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620C"/>
                </a:solidFill>
              </a:rPr>
              <a:t>1 finger  →  slot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288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220"/>
                </a:solidFill>
              </a:rPr>
              <a:t>Black 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331720"/>
            <a:ext cx="1737360" cy="73152"/>
          </a:xfrm>
          <a:prstGeom prst="roundRect">
            <a:avLst>
              <a:gd name="adj" fmla="val 50000"/>
            </a:avLst>
          </a:prstGeom>
          <a:solidFill>
            <a:srgbClr val="1B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2697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fixed color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593592" cy="201168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54296" y="177393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27448" y="232257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303520" y="2240280"/>
            <a:ext cx="457200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97880" y="1554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620C"/>
                </a:solidFill>
              </a:rPr>
              <a:t>2 fingers  →  slot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8288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220"/>
                </a:solidFill>
              </a:rPr>
              <a:t>Yellow highlighter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2331720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FD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2697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fixed color and opacity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234440"/>
            <a:ext cx="3593592" cy="201168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03336" y="149961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76488" y="204825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03336" y="259689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9052560" y="2240280"/>
            <a:ext cx="457200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46920" y="1554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620C"/>
                </a:solidFill>
              </a:rPr>
              <a:t>3 fingers  →  slot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8288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220"/>
                </a:solidFill>
              </a:rPr>
              <a:t>Red 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74352" y="2331720"/>
            <a:ext cx="1737360" cy="7315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2697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fixed 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Interaction</a:t>
            </a:r>
          </a:p>
        </p:txBody>
      </p:sp>
      <p:sp>
        <p:nvSpPr>
          <p:cNvPr id="30" name="Oval 29"/>
          <p:cNvSpPr/>
          <p:nvPr/>
        </p:nvSpPr>
        <p:spPr>
          <a:xfrm>
            <a:off x="566927" y="4023359"/>
            <a:ext cx="365760" cy="365760"/>
          </a:xfrm>
          <a:prstGeom prst="ellipse">
            <a:avLst/>
          </a:prstGeom>
          <a:solidFill>
            <a:srgbClr val="C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977639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Rest 1–3 fingers of the non-dominant hand on the screen, and keep them still.</a:t>
            </a:r>
          </a:p>
        </p:txBody>
      </p:sp>
      <p:sp>
        <p:nvSpPr>
          <p:cNvPr id="32" name="Oval 31"/>
          <p:cNvSpPr/>
          <p:nvPr/>
        </p:nvSpPr>
        <p:spPr>
          <a:xfrm>
            <a:off x="566927" y="4645151"/>
            <a:ext cx="365760" cy="36576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599431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Touch the pen down: the pen switches to slot N.</a:t>
            </a:r>
          </a:p>
        </p:txBody>
      </p:sp>
      <p:sp>
        <p:nvSpPr>
          <p:cNvPr id="34" name="Oval 33"/>
          <p:cNvSpPr/>
          <p:nvPr/>
        </p:nvSpPr>
        <p:spPr>
          <a:xfrm>
            <a:off x="566927" y="5266944"/>
            <a:ext cx="365760" cy="365760"/>
          </a:xfrm>
          <a:prstGeom prst="ellipse">
            <a:avLst/>
          </a:prstGeom>
          <a:solidFill>
            <a:srgbClr val="1B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2122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Lift without dragging to switch only. Drag to tune the size (next slide).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520440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Recognition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31920"/>
            <a:ext cx="523951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 dirty="0">
                <a:solidFill>
                  <a:srgbClr val="1B2220"/>
                </a:solidFill>
              </a:rPr>
              <a:t>Up to 3 fingers; 4 or more are ignored.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 dirty="0">
                <a:solidFill>
                  <a:srgbClr val="1B2220"/>
                </a:solidFill>
              </a:rPr>
              <a:t>Fingers must be still. Moving fingers do nothing (no pan or zoom).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 dirty="0">
                <a:solidFill>
                  <a:srgbClr val="1B2220"/>
                </a:solidFill>
              </a:rPr>
              <a:t>The slot is fixed at pen-down; finger changes during a drag are ignored.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 dirty="0">
                <a:solidFill>
                  <a:srgbClr val="1B2220"/>
                </a:solidFill>
              </a:rPr>
              <a:t>Wrist and palm contacts are filtered out.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 dirty="0">
                <a:solidFill>
                  <a:srgbClr val="1B2220"/>
                </a:solidFill>
              </a:rPr>
              <a:t>Mirrored for left-handed users.</a:t>
            </a:r>
          </a:p>
        </p:txBody>
      </p:sp>
    </p:spTree>
    <p:extLst>
      <p:ext uri="{BB962C8B-B14F-4D97-AF65-F5344CB8AC3E}">
        <p14:creationId xmlns:p14="http://schemas.microsoft.com/office/powerpoint/2010/main" val="194702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CBD5-91AA-4EA5-374C-94E6A98B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Conceptual Sketch · Tune: Pen Drag Sets the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223E4-C39E-D699-6CEE-67BA866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6400800" cy="3611880"/>
          </a:xfrm>
          <a:prstGeom prst="roundRect">
            <a:avLst>
              <a:gd name="adj" fmla="val 4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126480" cy="3337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6" y="1911095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316736" y="2414016"/>
            <a:ext cx="384048" cy="384048"/>
          </a:xfrm>
          <a:prstGeom prst="ellipse">
            <a:avLst/>
          </a:prstGeom>
          <a:solidFill>
            <a:srgbClr val="FBEBDC"/>
          </a:solidFill>
          <a:ln w="254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C8620C"/>
                </a:solidFill>
              </a:rPr>
              <a:t>fingers rest</a:t>
            </a:r>
          </a:p>
        </p:txBody>
      </p:sp>
      <p:sp>
        <p:nvSpPr>
          <p:cNvPr id="10" name="Oval 9"/>
          <p:cNvSpPr/>
          <p:nvPr/>
        </p:nvSpPr>
        <p:spPr>
          <a:xfrm>
            <a:off x="4325112" y="2185415"/>
            <a:ext cx="292608" cy="292608"/>
          </a:xfrm>
          <a:prstGeom prst="ellipse">
            <a:avLst/>
          </a:prstGeom>
          <a:noFill/>
          <a:ln w="15875">
            <a:solidFill>
              <a:srgbClr val="1F5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19955" y="2080260"/>
            <a:ext cx="502920" cy="502920"/>
          </a:xfrm>
          <a:prstGeom prst="ellipse">
            <a:avLst/>
          </a:prstGeom>
          <a:noFill/>
          <a:ln w="15875">
            <a:solidFill>
              <a:srgbClr val="1F5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05655" y="1965960"/>
            <a:ext cx="731520" cy="731520"/>
          </a:xfrm>
          <a:prstGeom prst="ellipse">
            <a:avLst/>
          </a:prstGeom>
          <a:noFill/>
          <a:ln w="285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21124" y="2281427"/>
            <a:ext cx="100584" cy="100584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28616" y="1764791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5FBF"/>
                </a:solidFill>
              </a:rPr>
              <a:t>3.1 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2735" y="2971800"/>
            <a:ext cx="1737361" cy="0"/>
          </a:xfrm>
          <a:prstGeom prst="line">
            <a:avLst/>
          </a:prstGeom>
          <a:ln w="2222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602735" y="2971800"/>
            <a:ext cx="1737361" cy="0"/>
          </a:xfrm>
          <a:prstGeom prst="line">
            <a:avLst/>
          </a:prstGeom>
          <a:ln w="2222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33856" y="3785615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345435" y="3785615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57015" y="3785615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68596" y="3785615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0175" y="3785615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1097280" y="3931920"/>
            <a:ext cx="5212080" cy="0"/>
          </a:xfrm>
          <a:prstGeom prst="line">
            <a:avLst/>
          </a:prstGeom>
          <a:ln w="15875">
            <a:solidFill>
              <a:srgbClr val="9AA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80160" y="3840480"/>
            <a:ext cx="0" cy="182879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0119" y="4114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0.5 pt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91739" y="3840480"/>
            <a:ext cx="0" cy="182879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71699" y="4114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1 pt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03320" y="3840480"/>
            <a:ext cx="0" cy="182879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83279" y="4114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2 pt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14900" y="3840480"/>
            <a:ext cx="0" cy="182879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4860" y="4114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4 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79" y="3840480"/>
            <a:ext cx="0" cy="182879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06440" y="4114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8 pt</a:t>
            </a:r>
          </a:p>
        </p:txBody>
      </p:sp>
      <p:sp>
        <p:nvSpPr>
          <p:cNvPr id="33" name="Oval 32"/>
          <p:cNvSpPr/>
          <p:nvPr/>
        </p:nvSpPr>
        <p:spPr>
          <a:xfrm>
            <a:off x="4396211" y="3858768"/>
            <a:ext cx="146304" cy="146304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40740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Shaded = snap zones at presets. Between them the size changes continuously.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23444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How it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1645920"/>
            <a:ext cx="4325112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6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With fingers resting, drag the pen sideways: the size changes continuously.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Near a preset the value snaps. Presets suit note-takers; in-between values suit sketchers.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A preview ring at the pen tip shows the size next to existing strokes.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Lift the pen to commit.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The vertical axis is not used. Opacity is dropped; the highlighter keeps a fixed opacity.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/>
            <a:r>
              <a:rPr sz="1400" b="1">
                <a:solidFill>
                  <a:srgbClr val="1F5FBF"/>
                </a:solidFill>
              </a:rPr>
              <a:t>Scenario  </a:t>
            </a:r>
            <a:r>
              <a:rPr sz="1400" b="0">
                <a:solidFill>
                  <a:srgbClr val="1B2220"/>
                </a:solidFill>
              </a:rPr>
              <a:t>Lecture notes: write in black 1 pt → 2 fingers + tap → highlight a term → 3 fingers + drag → circle a number in red 2 pt → 1 finger + tap → keep writing.</a:t>
            </a:r>
          </a:p>
        </p:txBody>
      </p:sp>
    </p:spTree>
    <p:extLst>
      <p:ext uri="{BB962C8B-B14F-4D97-AF65-F5344CB8AC3E}">
        <p14:creationId xmlns:p14="http://schemas.microsoft.com/office/powerpoint/2010/main" val="317083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E7F8-BDF3-55D7-19BD-679F2323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5A56-3A52-678A-3E4D-343A669F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Implementation Sketch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0BCBC-FA89-85E0-0618-9E9B4B5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Fixed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iPad Air 10.9" (4th/5th gen) + Apple Pencil (2nd gen), portrait, on a desk.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Pencil double-tap set to Off. Guided Access on, so system gestures are blocked.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52120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A new standalone note app; the same app and rendering for every condition.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No undo/redo, pan or zoom gestures; one page fits the screen.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Likely native iPadOS (Swift, UIKit touch types): iPad browsers reportedly block finger events once the Pencil touches.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1B2220"/>
                </a:solidFill>
              </a:rPr>
              <a:t>Logs every touch, slot, size and error to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Recognition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1463040" cy="685800"/>
          </a:xfrm>
          <a:prstGeom prst="roundRect">
            <a:avLst>
              <a:gd name="adj" fmla="val 15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B2220"/>
                </a:solidFill>
              </a:rPr>
              <a:t>IDLE</a:t>
            </a:r>
          </a:p>
          <a:p>
            <a:pPr algn="ctr"/>
            <a:r>
              <a:rPr sz="1100" b="0">
                <a:solidFill>
                  <a:srgbClr val="5D6864"/>
                </a:solidFill>
              </a:rPr>
              <a:t>normal drawing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48840"/>
            <a:ext cx="1463040" cy="685800"/>
          </a:xfrm>
          <a:prstGeom prst="roundRect">
            <a:avLst>
              <a:gd name="adj" fmla="val 15000"/>
            </a:avLst>
          </a:prstGeom>
          <a:solidFill>
            <a:srgbClr val="FBEBDC"/>
          </a:solidFill>
          <a:ln w="12700">
            <a:solidFill>
              <a:srgbClr val="C86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C8620C"/>
                </a:solidFill>
              </a:rPr>
              <a:t>ARMED</a:t>
            </a:r>
          </a:p>
          <a:p>
            <a:pPr algn="ctr"/>
            <a:r>
              <a:rPr sz="1100" b="0">
                <a:solidFill>
                  <a:srgbClr val="5D6864"/>
                </a:solidFill>
              </a:rPr>
              <a:t>fingers resting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148840"/>
            <a:ext cx="1463040" cy="685800"/>
          </a:xfrm>
          <a:prstGeom prst="roundRect">
            <a:avLst>
              <a:gd name="adj" fmla="val 15000"/>
            </a:avLst>
          </a:prstGeom>
          <a:solidFill>
            <a:srgbClr val="E4ECF8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1F5FBF"/>
                </a:solidFill>
              </a:rPr>
              <a:t>TUNING</a:t>
            </a:r>
          </a:p>
          <a:p>
            <a:pPr algn="ctr"/>
            <a:r>
              <a:rPr sz="1100" b="0">
                <a:solidFill>
                  <a:srgbClr val="5D6864"/>
                </a:solidFill>
              </a:rPr>
              <a:t>pen drag = size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377440"/>
            <a:ext cx="457200" cy="0"/>
          </a:xfrm>
          <a:prstGeom prst="line">
            <a:avLst/>
          </a:prstGeom>
          <a:ln w="22225">
            <a:solidFill>
              <a:srgbClr val="5D6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46920" y="2377440"/>
            <a:ext cx="457200" cy="0"/>
          </a:xfrm>
          <a:prstGeom prst="line">
            <a:avLst/>
          </a:prstGeom>
          <a:ln w="22225">
            <a:solidFill>
              <a:srgbClr val="5D6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52360" y="16459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fingers still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6459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pen down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81360" y="2880360"/>
            <a:ext cx="0" cy="365760"/>
          </a:xfrm>
          <a:prstGeom prst="line">
            <a:avLst/>
          </a:prstGeom>
          <a:ln w="22225">
            <a:solidFill>
              <a:srgbClr val="5D6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858000" y="3246120"/>
            <a:ext cx="4023360" cy="0"/>
          </a:xfrm>
          <a:prstGeom prst="line">
            <a:avLst/>
          </a:prstGeom>
          <a:ln w="22225">
            <a:solidFill>
              <a:srgbClr val="5D6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858000" y="2880360"/>
            <a:ext cx="0" cy="365760"/>
          </a:xfrm>
          <a:prstGeom prst="line">
            <a:avLst/>
          </a:prstGeom>
          <a:ln w="22225">
            <a:solidFill>
              <a:srgbClr val="5D6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4088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pen up = commit · fingers up = exit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862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500"/>
              </a:spcAft>
              <a:buChar char="•"/>
            </a:pPr>
            <a:r>
              <a:rPr sz="1400" b="1" i="0">
                <a:solidFill>
                  <a:srgbClr val="1B2220"/>
                </a:solidFill>
              </a:rPr>
              <a:t>No hold timer. </a:t>
            </a:r>
            <a:r>
              <a:rPr sz="1400" b="0" i="0">
                <a:solidFill>
                  <a:srgbClr val="1B2220"/>
                </a:solidFill>
              </a:rPr>
              <a:t>Pen-down is the trigger (hold was slowest in Li et al., 2005).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1" i="0">
                <a:solidFill>
                  <a:srgbClr val="1B2220"/>
                </a:solidFill>
              </a:rPr>
              <a:t>Still fingers: </a:t>
            </a:r>
            <a:r>
              <a:rPr sz="1400" b="0" i="0">
                <a:solidFill>
                  <a:srgbClr val="1B2220"/>
                </a:solidFill>
              </a:rPr>
              <a:t>movement and dwell thresholds set in the pilot.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1" i="0">
                <a:solidFill>
                  <a:srgbClr val="1B2220"/>
                </a:solidFill>
              </a:rPr>
              <a:t>Palm and wrist filter: </a:t>
            </a:r>
            <a:r>
              <a:rPr sz="1400" b="0" i="0">
                <a:solidFill>
                  <a:srgbClr val="1B2220"/>
                </a:solidFill>
              </a:rPr>
              <a:t>large contact radius or contacts on the pen-hand side.</a:t>
            </a:r>
          </a:p>
          <a:p>
            <a:pPr marL="182880" indent="-155448" algn="l">
              <a:spcAft>
                <a:spcPts val="500"/>
              </a:spcAft>
              <a:buChar char="•"/>
            </a:pPr>
            <a:r>
              <a:rPr sz="1400" b="1" i="0">
                <a:solidFill>
                  <a:srgbClr val="1B2220"/>
                </a:solidFill>
              </a:rPr>
              <a:t>Size: </a:t>
            </a:r>
            <a:r>
              <a:rPr sz="1400" b="0" i="0">
                <a:solidFill>
                  <a:srgbClr val="1B2220"/>
                </a:solidFill>
              </a:rPr>
              <a:t>horizontal movement only, snapping within a few pixels of a preset.</a:t>
            </a:r>
          </a:p>
        </p:txBody>
      </p:sp>
    </p:spTree>
    <p:extLst>
      <p:ext uri="{BB962C8B-B14F-4D97-AF65-F5344CB8AC3E}">
        <p14:creationId xmlns:p14="http://schemas.microsoft.com/office/powerpoint/2010/main" val="227775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C7AA-B632-16DF-FDC2-EB8DDF52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14A9-979C-16F1-D439-1E7A00E5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Previous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C9829-F878-2BE0-9948-70B8D563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542107"/>
              </p:ext>
            </p:extLst>
          </p:nvPr>
        </p:nvGraphicFramePr>
        <p:xfrm>
          <a:off x="548640" y="1234440"/>
          <a:ext cx="1109167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T="36576" marB="36576">
                    <a:solidFill>
                      <a:srgbClr val="1B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T="36576" marB="36576">
                    <a:solidFill>
                      <a:srgbClr val="1B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Gap for our problem</a:t>
                      </a:r>
                    </a:p>
                  </a:txBody>
                  <a:tcPr marT="36576" marB="36576">
                    <a:solidFill>
                      <a:srgbClr val="1B2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220"/>
                          </a:solidFill>
                        </a:rPr>
                        <a:t>Thumb + Pen</a:t>
                      </a:r>
                    </a:p>
                    <a:p>
                      <a:r>
                        <a:rPr sz="1100" b="0">
                          <a:solidFill>
                            <a:srgbClr val="5D6864"/>
                          </a:solidFill>
                        </a:rPr>
                        <a:t>Pfeuffer et al., CHI 2017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220"/>
                          </a:solidFill>
                        </a:rPr>
                        <a:t>Thumb holds a spring-loaded mode, pen acts; includes size and alpha control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220"/>
                          </a:solidFill>
                        </a:rPr>
                        <a:t>Mode picked from a marking menu; informal study only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220"/>
                          </a:solidFill>
                        </a:rPr>
                        <a:t>Finger-Count Shortcuts</a:t>
                      </a:r>
                    </a:p>
                    <a:p>
                      <a:r>
                        <a:rPr sz="1100" b="0">
                          <a:solidFill>
                            <a:srgbClr val="5D6864"/>
                          </a:solidFill>
                        </a:rPr>
                        <a:t>Bailly et al., CHI 2010</a:t>
                      </a:r>
                    </a:p>
                  </a:txBody>
                  <a:tcPr marT="36576" marB="36576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220"/>
                          </a:solidFill>
                        </a:rPr>
                        <a:t>Number of fingers selects a menu item</a:t>
                      </a:r>
                    </a:p>
                  </a:txBody>
                  <a:tcPr marT="36576" marB="36576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220"/>
                          </a:solidFill>
                        </a:rPr>
                        <a:t>No pen, no continuous value</a:t>
                      </a:r>
                    </a:p>
                  </a:txBody>
                  <a:tcPr marT="36576" marB="36576"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220"/>
                          </a:solidFill>
                        </a:rPr>
                        <a:t>Mode switching in pen UIs</a:t>
                      </a:r>
                    </a:p>
                    <a:p>
                      <a:r>
                        <a:rPr sz="1100" b="0">
                          <a:solidFill>
                            <a:srgbClr val="5D6864"/>
                          </a:solidFill>
                        </a:rPr>
                        <a:t>Li et al., CHI 2005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Non-preferred-hand button 139 </a:t>
                      </a:r>
                      <a:r>
                        <a:rPr lang="en-US" sz="1300" b="0" dirty="0" err="1">
                          <a:solidFill>
                            <a:srgbClr val="1B2220"/>
                          </a:solidFill>
                        </a:rPr>
                        <a:t>ms</a:t>
                      </a:r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 vs. pen hold 1513 </a:t>
                      </a:r>
                      <a:r>
                        <a:rPr lang="en-US" sz="1300" b="0" dirty="0" err="1">
                          <a:solidFill>
                            <a:srgbClr val="1B2220"/>
                          </a:solidFill>
                        </a:rPr>
                        <a:t>ms</a:t>
                      </a:r>
                      <a:endParaRPr lang="en-US" sz="1300" b="0" dirty="0">
                        <a:solidFill>
                          <a:srgbClr val="1B2220"/>
                        </a:solidFill>
                      </a:endParaRP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220"/>
                          </a:solidFill>
                        </a:rPr>
                        <a:t>Motivates our no-timer trigger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B2220"/>
                          </a:solidFill>
                        </a:rPr>
                        <a:t>Pen + Touch = New Tools</a:t>
                      </a:r>
                    </a:p>
                    <a:p>
                      <a:r>
                        <a:rPr sz="1100" b="0" dirty="0">
                          <a:solidFill>
                            <a:srgbClr val="5D6864"/>
                          </a:solidFill>
                        </a:rPr>
                        <a:t>Hinckley et al., UIST 2010</a:t>
                      </a:r>
                    </a:p>
                  </a:txBody>
                  <a:tcPr marT="36576" marB="36576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B2220"/>
                          </a:solidFill>
                        </a:rPr>
                        <a:t>Pen writes, touch manipulates</a:t>
                      </a:r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 -</a:t>
                      </a:r>
                      <a:r>
                        <a:rPr sz="1300" b="0" dirty="0">
                          <a:solidFill>
                            <a:srgbClr val="1B2220"/>
                          </a:solidFill>
                        </a:rPr>
                        <a:t> pen + touch combos create tools</a:t>
                      </a:r>
                    </a:p>
                  </a:txBody>
                  <a:tcPr marT="36576" marB="36576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220"/>
                          </a:solidFill>
                        </a:rPr>
                        <a:t>Division of labor we build on</a:t>
                      </a:r>
                    </a:p>
                  </a:txBody>
                  <a:tcPr marT="36576" marB="36576"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B2220"/>
                          </a:solidFill>
                        </a:rPr>
                        <a:t>Commercial: Procreate, Apple Pencil 2 / Pro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B2220"/>
                          </a:solidFill>
                        </a:rPr>
                        <a:t>Hover pinch for size (iPad Pro M2+), size memory points</a:t>
                      </a:r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 -</a:t>
                      </a:r>
                      <a:r>
                        <a:rPr sz="1300" b="0" dirty="0">
                          <a:solidFill>
                            <a:srgbClr val="1B2220"/>
                          </a:solidFill>
                        </a:rPr>
                        <a:t> double-tap / squeeze toggle a tool or open a palette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B2220"/>
                          </a:solidFill>
                        </a:rPr>
                        <a:t>Needs hover hardware</a:t>
                      </a:r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 -</a:t>
                      </a:r>
                      <a:r>
                        <a:rPr sz="1300" b="0" dirty="0">
                          <a:solidFill>
                            <a:srgbClr val="1B2220"/>
                          </a:solidFill>
                        </a:rPr>
                        <a:t> toggles two tools at most. Our size snap reuses its memory-point idea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1B2220"/>
                          </a:solidFill>
                        </a:rPr>
                        <a:t>Commercial: GoodNotes, Notability</a:t>
                      </a:r>
                    </a:p>
                  </a:txBody>
                  <a:tcPr marT="36576" marB="36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Toolbar color slots - Notability’s favorites tray picks a saved pen in one tap. Size: open the tool menu, then a slider</a:t>
                      </a:r>
                    </a:p>
                  </a:txBody>
                  <a:tcPr marT="36576" marB="36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rgbClr val="1B2220"/>
                          </a:solidFill>
                        </a:rPr>
                        <a:t>Hand and gaze leave the writing spot for the toolbar - our C1 baseline models this</a:t>
                      </a:r>
                    </a:p>
                  </a:txBody>
                  <a:tcPr marT="36576" marB="36576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/>
            <a:r>
              <a:rPr sz="1400" b="1" dirty="0">
                <a:solidFill>
                  <a:srgbClr val="1F5FBF"/>
                </a:solidFill>
              </a:rPr>
              <a:t>Our contribution  </a:t>
            </a:r>
            <a:r>
              <a:rPr sz="1400" b="1" dirty="0">
                <a:solidFill>
                  <a:srgbClr val="1B2220"/>
                </a:solidFill>
              </a:rPr>
              <a:t>A combination, measured. </a:t>
            </a:r>
            <a:r>
              <a:rPr sz="1400" b="0" dirty="0">
                <a:solidFill>
                  <a:srgbClr val="1B2220"/>
                </a:solidFill>
              </a:rPr>
              <a:t>Count &amp; Tune joins on-canvas discrete selection (finger count) with in-place continuous tuning (pen drag) in one bimanual gesture, with no pen buttons. We test it in a controlled study against toolbar + slider and a Thumb + Pen–style single-finger mode.</a:t>
            </a:r>
          </a:p>
        </p:txBody>
      </p:sp>
    </p:spTree>
    <p:extLst>
      <p:ext uri="{BB962C8B-B14F-4D97-AF65-F5344CB8AC3E}">
        <p14:creationId xmlns:p14="http://schemas.microsoft.com/office/powerpoint/2010/main" val="62513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Current Progress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A9BF2-EFFF-25B6-D395-7F7CFF69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Iteration: pre-proposal →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8524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1718524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>
                <a:solidFill>
                  <a:srgbClr val="5D6864"/>
                </a:solidFill>
              </a:rPr>
              <a:t>One pen only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96512" y="2020276"/>
            <a:ext cx="384048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53712" y="1718524"/>
            <a:ext cx="3017520" cy="603504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1F5FBF"/>
                </a:solidFill>
              </a:rPr>
              <a:t>1–3 fingers pick the pen slot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332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Adjustment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468332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>
                <a:solidFill>
                  <a:srgbClr val="5D6864"/>
                </a:solidFill>
              </a:rPr>
              <a:t>Size + opacity (2D)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96512" y="2770084"/>
            <a:ext cx="384048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53712" y="2468332"/>
            <a:ext cx="3017520" cy="603504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1F5FBF"/>
                </a:solidFill>
              </a:rPr>
              <a:t>Size only: continuous + preset snap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140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3218140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>
                <a:solidFill>
                  <a:srgbClr val="5D6864"/>
                </a:solidFill>
              </a:rPr>
              <a:t>Pen settings menu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6512" y="3519892"/>
            <a:ext cx="384048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53712" y="3218140"/>
            <a:ext cx="3017520" cy="603504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1F5FBF"/>
                </a:solidFill>
              </a:rPr>
              <a:t>Always-visible toolbar + slider, plus a single-finger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67948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0"/>
                </a:solidFill>
              </a:rPr>
              <a:t>Setup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83080" y="3967948"/>
            <a:ext cx="2240280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>
                <a:solidFill>
                  <a:srgbClr val="5D6864"/>
                </a:solidFill>
              </a:rPr>
              <a:t>Any tablet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96512" y="4269700"/>
            <a:ext cx="384048" cy="0"/>
          </a:xfrm>
          <a:prstGeom prst="line">
            <a:avLst/>
          </a:prstGeom>
          <a:ln w="19050">
            <a:solidFill>
              <a:srgbClr val="9AA4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53712" y="3967948"/>
            <a:ext cx="3017520" cy="603504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1F5FBF"/>
                </a:solidFill>
              </a:rPr>
              <a:t>iPad Air + Pencil 2, portrait, our own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63476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864"/>
                </a:solidFill>
              </a:rPr>
              <a:t>Why: a prior-work audit showed the single-finger version overlaps with Thumb + Pen (CHI 2017) and Procreate.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234440"/>
            <a:ext cx="3639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1645920"/>
            <a:ext cx="3639312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600"/>
              </a:spcAft>
              <a:buChar char="•"/>
            </a:pPr>
            <a:r>
              <a:rPr sz="1300" b="0" i="0" dirty="0">
                <a:solidFill>
                  <a:srgbClr val="1B2220"/>
                </a:solidFill>
              </a:rPr>
              <a:t>Narrowed three ideas to one, following TA feedback (new technique, multiple fingers).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300" b="0" i="0" dirty="0">
                <a:solidFill>
                  <a:srgbClr val="1B2220"/>
                </a:solidFill>
              </a:rPr>
              <a:t>Surveyed prior work and commercial apps</a:t>
            </a:r>
            <a:r>
              <a:rPr lang="en-US" sz="1300" b="0" i="0" dirty="0">
                <a:solidFill>
                  <a:srgbClr val="1B2220"/>
                </a:solidFill>
              </a:rPr>
              <a:t> -</a:t>
            </a:r>
            <a:r>
              <a:rPr sz="1300" b="0" i="0" dirty="0">
                <a:solidFill>
                  <a:srgbClr val="1B2220"/>
                </a:solidFill>
              </a:rPr>
              <a:t> redesigned the technique.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300" b="0" i="0" dirty="0">
                <a:solidFill>
                  <a:srgbClr val="1B2220"/>
                </a:solidFill>
              </a:rPr>
              <a:t>Fixed the device, scope (size only) and task format as a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611880"/>
            <a:ext cx="3639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023360"/>
            <a:ext cx="363931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5448" algn="l">
              <a:spcAft>
                <a:spcPts val="600"/>
              </a:spcAft>
              <a:buChar char="•"/>
            </a:pPr>
            <a:r>
              <a:rPr sz="1300" b="0" i="0">
                <a:solidFill>
                  <a:srgbClr val="1B2220"/>
                </a:solidFill>
              </a:rPr>
              <a:t>iPad browsers reportedly block finger events once the Pencil touches, so a native app (Mac + Xcode) is likely.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300" b="0" i="0">
                <a:solidFill>
                  <a:srgbClr val="1B2220"/>
                </a:solidFill>
              </a:rPr>
              <a:t>Wrist and palm contacts can look like resting fingers.</a:t>
            </a:r>
          </a:p>
          <a:p>
            <a:pPr marL="182880" indent="-155448" algn="l">
              <a:spcAft>
                <a:spcPts val="600"/>
              </a:spcAft>
              <a:buChar char="•"/>
            </a:pPr>
            <a:r>
              <a:rPr sz="1300" b="0" i="0">
                <a:solidFill>
                  <a:srgbClr val="1B2220"/>
                </a:solidFill>
              </a:rPr>
              <a:t>Writing tasks must not depend on handwriting 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>
                <a:solidFill>
                  <a:srgbClr val="1B2220"/>
                </a:solidFill>
              </a:rPr>
              <a:t>Future Plan · Study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A9BF2-EFFF-25B6-D395-7F7CFF69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B2220"/>
                </a:solidFill>
              </a:rPr>
              <a:t>12 right-handed adults with tablet note-taking experience · within-subjects · order counterbalanced (6 orders ×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bIns="36576" rtlCol="0" anchor="t"/>
          <a:lstStyle/>
          <a:p>
            <a:pPr algn="l"/>
            <a:r>
              <a:rPr sz="1300" b="1" dirty="0">
                <a:solidFill>
                  <a:srgbClr val="1B2220"/>
                </a:solidFill>
              </a:rPr>
              <a:t>C1  Toolbar + slider</a:t>
            </a:r>
          </a:p>
          <a:p>
            <a:pPr algn="l"/>
            <a:r>
              <a:rPr lang="en-US" sz="1100" b="0" dirty="0">
                <a:solidFill>
                  <a:srgbClr val="5D6864"/>
                </a:solidFill>
              </a:rPr>
              <a:t>3-pen toolbar as in </a:t>
            </a:r>
            <a:r>
              <a:rPr lang="en-US" sz="1100" b="0" dirty="0" err="1">
                <a:solidFill>
                  <a:srgbClr val="5D6864"/>
                </a:solidFill>
              </a:rPr>
              <a:t>GoodNotes</a:t>
            </a:r>
            <a:r>
              <a:rPr lang="en-US" sz="1100" b="0" dirty="0">
                <a:solidFill>
                  <a:srgbClr val="5D6864"/>
                </a:solidFill>
              </a:rPr>
              <a:t> / Notability, size slider as in Procreate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B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bIns="36576" rtlCol="0" anchor="t"/>
          <a:lstStyle/>
          <a:p>
            <a:pPr algn="l"/>
            <a:r>
              <a:rPr sz="1300" b="1">
                <a:solidFill>
                  <a:srgbClr val="C8620C"/>
                </a:solidFill>
              </a:rPr>
              <a:t>C2  </a:t>
            </a:r>
            <a:r>
              <a:rPr sz="1300" b="1">
                <a:solidFill>
                  <a:srgbClr val="1B2220"/>
                </a:solidFill>
              </a:rPr>
              <a:t>1 finger + pen drag</a:t>
            </a:r>
          </a:p>
          <a:p>
            <a:pPr algn="l"/>
            <a:r>
              <a:rPr sz="1100" b="0">
                <a:solidFill>
                  <a:srgbClr val="5D6864"/>
                </a:solidFill>
              </a:rPr>
              <a:t>size by drag; pen picked in the toolbar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bIns="36576" rtlCol="0" anchor="t"/>
          <a:lstStyle/>
          <a:p>
            <a:pPr algn="l"/>
            <a:r>
              <a:rPr sz="1300" b="1">
                <a:solidFill>
                  <a:srgbClr val="1F5FBF"/>
                </a:solidFill>
              </a:rPr>
              <a:t>C3  </a:t>
            </a:r>
            <a:r>
              <a:rPr sz="1300" b="1">
                <a:solidFill>
                  <a:srgbClr val="1B2220"/>
                </a:solidFill>
              </a:rPr>
              <a:t>Count &amp; Tune</a:t>
            </a:r>
          </a:p>
          <a:p>
            <a:pPr algn="l"/>
            <a:r>
              <a:rPr sz="1100" b="0">
                <a:solidFill>
                  <a:srgbClr val="5D6864"/>
                </a:solidFill>
              </a:rPr>
              <a:t>finger count + pen drag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D6864"/>
                </a:solidFill>
              </a:rPr>
              <a:t>Same app, pens and snap points in every condition. C2 isolates the effect of finger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6858000" cy="171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54940" algn="l">
              <a:spcAft>
                <a:spcPts val="800"/>
              </a:spcAft>
              <a:buChar char="•"/>
            </a:pPr>
            <a:r>
              <a:rPr sz="1400" b="1" i="0" dirty="0">
                <a:solidFill>
                  <a:srgbClr val="1B2220"/>
                </a:solidFill>
              </a:rPr>
              <a:t>Exp 1 · Size matching  </a:t>
            </a:r>
            <a:r>
              <a:rPr sz="1400" b="0" i="0" dirty="0">
                <a:solidFill>
                  <a:srgbClr val="1B2220"/>
                </a:solidFill>
              </a:rPr>
              <a:t>Draw inside parallel-line gaps at the target width. Targets on and between presets. Size only.</a:t>
            </a:r>
            <a:endParaRPr lang="ko-KR" altLang="en-US" dirty="0"/>
          </a:p>
          <a:p>
            <a:pPr marL="182880" indent="-154940">
              <a:spcAft>
                <a:spcPts val="800"/>
              </a:spcAft>
              <a:buChar char="•"/>
            </a:pPr>
            <a:r>
              <a:rPr sz="1400" b="1" i="0" dirty="0">
                <a:solidFill>
                  <a:srgbClr val="1B2220"/>
                </a:solidFill>
              </a:rPr>
              <a:t>Exp 2 · Annotation script  </a:t>
            </a:r>
            <a:r>
              <a:rPr sz="1400" b="0" i="0" dirty="0">
                <a:solidFill>
                  <a:srgbClr val="1B2220"/>
                </a:solidFill>
              </a:rPr>
              <a:t>A lecture page shows one step at a time: underline, highlight, circle, or write a short word in Korean with a given pen and size. </a:t>
            </a:r>
            <a:r>
              <a:rPr lang="en-US" sz="1400" i="0" dirty="0">
                <a:solidFill>
                  <a:srgbClr val="1B2220"/>
                </a:solidFill>
              </a:rPr>
              <a:t>About</a:t>
            </a:r>
            <a:r>
              <a:rPr lang="en-US" altLang="ko-KR" sz="1400" dirty="0">
                <a:solidFill>
                  <a:srgbClr val="1B2220"/>
                </a:solidFill>
                <a:ea typeface="맑은 고딕"/>
              </a:rPr>
              <a:t> N</a:t>
            </a:r>
            <a:r>
              <a:rPr lang="en-US" sz="1400" i="0" dirty="0">
                <a:solidFill>
                  <a:srgbClr val="1B2220"/>
                </a:solidFill>
              </a:rPr>
              <a:t> steps per page, mixing switch-only, size-only and switch + size.</a:t>
            </a:r>
            <a:endParaRPr lang="en-US" altLang="ko-KR" sz="1400" i="0" dirty="0">
              <a:solidFill>
                <a:srgbClr val="1B2220"/>
              </a:solidFill>
              <a:ea typeface="Calibri"/>
              <a:cs typeface="Calibri"/>
            </a:endParaRPr>
          </a:p>
          <a:p>
            <a:pPr marL="182880" indent="-154940" algn="l">
              <a:spcAft>
                <a:spcPts val="800"/>
              </a:spcAft>
              <a:buChar char="•"/>
            </a:pPr>
            <a:r>
              <a:rPr sz="1400" b="1" i="0" dirty="0">
                <a:solidFill>
                  <a:srgbClr val="1B2220"/>
                </a:solidFill>
              </a:rPr>
              <a:t>Scoring from logs  </a:t>
            </a:r>
            <a:r>
              <a:rPr sz="1400" b="0" i="0" dirty="0">
                <a:solidFill>
                  <a:srgbClr val="1B2220"/>
                </a:solidFill>
              </a:rPr>
              <a:t>pen and size of each stroke vs. the script</a:t>
            </a:r>
            <a:r>
              <a:rPr lang="en-US" sz="1400" dirty="0">
                <a:solidFill>
                  <a:srgbClr val="1B2220"/>
                </a:solidFill>
              </a:rPr>
              <a:t> -</a:t>
            </a:r>
            <a:r>
              <a:rPr sz="1400" b="0" i="0" dirty="0">
                <a:solidFill>
                  <a:srgbClr val="1B2220"/>
                </a:solidFill>
              </a:rPr>
              <a:t> stroke shape and position are not scored.</a:t>
            </a:r>
            <a:endParaRPr lang="ko-KR" altLang="en-US" sz="1400" b="0" i="0" dirty="0">
              <a:solidFill>
                <a:srgbClr val="1B222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82712" y="1078992"/>
            <a:ext cx="3419856" cy="4654296"/>
          </a:xfrm>
          <a:prstGeom prst="roundRect">
            <a:avLst>
              <a:gd name="adj" fmla="val 5000"/>
            </a:avLst>
          </a:prstGeom>
          <a:solidFill>
            <a:srgbClr val="F1F3F2"/>
          </a:solidFill>
          <a:ln w="12700">
            <a:solidFill>
              <a:srgbClr val="C9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2004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02167" y="1298448"/>
            <a:ext cx="2980944" cy="457200"/>
          </a:xfrm>
          <a:prstGeom prst="roundRect">
            <a:avLst>
              <a:gd name="adj" fmla="val 15000"/>
            </a:avLst>
          </a:prstGeom>
          <a:solidFill>
            <a:srgbClr val="1B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en-US" sz="1100" b="1" dirty="0">
                <a:solidFill>
                  <a:srgbClr val="FFDD55"/>
                </a:solidFill>
              </a:rPr>
              <a:t>Few Steps</a:t>
            </a:r>
            <a:endParaRPr sz="1100" b="0" dirty="0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21040" y="2057400"/>
            <a:ext cx="274320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2441448"/>
            <a:ext cx="237744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0" y="2770632"/>
            <a:ext cx="1188720" cy="219456"/>
          </a:xfrm>
          <a:prstGeom prst="roundRect">
            <a:avLst>
              <a:gd name="adj" fmla="val 20000"/>
            </a:avLst>
          </a:prstGeom>
          <a:solidFill>
            <a:srgbClr val="FFD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2825496"/>
            <a:ext cx="265176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3209544"/>
            <a:ext cx="201168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21040" y="3593591"/>
            <a:ext cx="274320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3977639"/>
            <a:ext cx="228600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361688"/>
            <a:ext cx="256032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321040" y="4745736"/>
            <a:ext cx="1463040" cy="100584"/>
          </a:xfrm>
          <a:prstGeom prst="roundRect">
            <a:avLst>
              <a:gd name="adj" fmla="val 50000"/>
            </a:avLst>
          </a:prstGeom>
          <a:solidFill>
            <a:srgbClr val="C9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9509760" y="3465575"/>
            <a:ext cx="685800" cy="347472"/>
          </a:xfrm>
          <a:prstGeom prst="ellipse">
            <a:avLst/>
          </a:prstGeom>
          <a:noFill/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8321040" y="4544568"/>
            <a:ext cx="1508760" cy="0"/>
          </a:xfrm>
          <a:prstGeom prst="line">
            <a:avLst/>
          </a:prstGeom>
          <a:ln w="19050">
            <a:solidFill>
              <a:srgbClr val="1B2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21040" y="5065775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ko-KR" altLang="en-US" sz="1400" b="0" i="1" dirty="0">
                <a:solidFill>
                  <a:srgbClr val="1B2220"/>
                </a:solidFill>
              </a:rPr>
              <a:t>확인</a:t>
            </a:r>
            <a:endParaRPr sz="1400" b="0" i="1" dirty="0">
              <a:solidFill>
                <a:srgbClr val="1B222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82712" y="5806440"/>
            <a:ext cx="3419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Exp 2 screen (mock), portrait</a:t>
            </a:r>
          </a:p>
        </p:txBody>
      </p:sp>
    </p:spTree>
    <p:extLst>
      <p:ext uri="{BB962C8B-B14F-4D97-AF65-F5344CB8AC3E}">
        <p14:creationId xmlns:p14="http://schemas.microsoft.com/office/powerpoint/2010/main" val="149903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 anchor="ctr"/>
          <a:lstStyle/>
          <a:p>
            <a:r>
              <a:rPr sz="3400" dirty="0">
                <a:solidFill>
                  <a:srgbClr val="1B2220"/>
                </a:solidFill>
              </a:rPr>
              <a:t>Future Plan · Hypotheses &amp;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A9BF2-EFFF-25B6-D395-7F7CFF69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35BC-DCA2-B745-8847-BA13024B5EF9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675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Switching time per step (last stroke before the cue → first stroke with the correct pen and size), size error, actions per step, mode errors (wrong slot, unintended activation), NASA-TLX, preference.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Hypotheses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66928" cy="420624"/>
          </a:xfrm>
          <a:prstGeom prst="roundRect">
            <a:avLst>
              <a:gd name="adj" fmla="val 2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154680"/>
            <a:ext cx="5943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B2220"/>
                </a:solidFill>
              </a:rPr>
              <a:t>Switch + size steps: C3 faster than C1 and C2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66928" cy="420624"/>
          </a:xfrm>
          <a:prstGeom prst="roundRect">
            <a:avLst>
              <a:gd name="adj" fmla="val 2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703320"/>
            <a:ext cx="5943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Size-only steps: C2 ≈ C3, both faster than C1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66928" cy="420624"/>
          </a:xfrm>
          <a:prstGeom prst="roundRect">
            <a:avLst>
              <a:gd name="adj" fmla="val 20000"/>
            </a:avLst>
          </a:prstGeom>
          <a:solidFill>
            <a:srgbClr val="1B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251960"/>
            <a:ext cx="5943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Size error: C3 no worse than C1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66928" cy="420624"/>
          </a:xfrm>
          <a:prstGeom prst="roundRect">
            <a:avLst>
              <a:gd name="adj" fmla="val 20000"/>
            </a:avLst>
          </a:prstGeom>
          <a:solidFill>
            <a:srgbClr val="C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00600"/>
            <a:ext cx="5943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Mode errors: C3 higher than C1 (the expected cost)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566928" cy="420624"/>
          </a:xfrm>
          <a:prstGeom prst="roundRect">
            <a:avLst>
              <a:gd name="adj" fmla="val 20000"/>
            </a:avLst>
          </a:prstGeom>
          <a:solidFill>
            <a:srgbClr val="1B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5349240"/>
            <a:ext cx="5943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220"/>
                </a:solidFill>
              </a:rPr>
              <a:t>Workload: C3 lower on NASA-TLX and preferred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23444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220"/>
                </a:solidFill>
              </a:rPr>
              <a:t>Timeline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691640"/>
            <a:ext cx="4187952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300" b="1" dirty="0">
                <a:solidFill>
                  <a:srgbClr val="1B2220"/>
                </a:solidFill>
              </a:rPr>
              <a:t>10/27–11/2   </a:t>
            </a:r>
            <a:r>
              <a:rPr sz="1300" b="0" dirty="0">
                <a:solidFill>
                  <a:srgbClr val="1B2220"/>
                </a:solidFill>
              </a:rPr>
              <a:t>Platform check, prototype v0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404872"/>
            <a:ext cx="4187952" cy="603504"/>
          </a:xfrm>
          <a:prstGeom prst="roundRect">
            <a:avLst>
              <a:gd name="adj" fmla="val 12000"/>
            </a:avLst>
          </a:prstGeom>
          <a:solidFill>
            <a:srgbClr val="FB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300" b="1">
                <a:solidFill>
                  <a:srgbClr val="C8620C"/>
                </a:solidFill>
              </a:rPr>
              <a:t>11/3–11/9   </a:t>
            </a:r>
            <a:r>
              <a:rPr sz="1300" b="0">
                <a:solidFill>
                  <a:srgbClr val="1B2220"/>
                </a:solidFill>
              </a:rPr>
              <a:t>Pilot (n = 3–4): thresholds, snap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118104"/>
            <a:ext cx="4187952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300" b="1">
                <a:solidFill>
                  <a:srgbClr val="1B2220"/>
                </a:solidFill>
              </a:rPr>
              <a:t>11/10–11/16   </a:t>
            </a:r>
            <a:r>
              <a:rPr sz="1300" b="0">
                <a:solidFill>
                  <a:srgbClr val="1B2220"/>
                </a:solidFill>
              </a:rPr>
              <a:t>Prototype v1 + task scripts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831335"/>
            <a:ext cx="4187952" cy="603504"/>
          </a:xfrm>
          <a:prstGeom prst="roundRect">
            <a:avLst>
              <a:gd name="adj" fmla="val 12000"/>
            </a:avLst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300" b="1">
                <a:solidFill>
                  <a:srgbClr val="1F5FBF"/>
                </a:solidFill>
              </a:rPr>
              <a:t>11/17–11/30   </a:t>
            </a:r>
            <a:r>
              <a:rPr sz="1300" b="0">
                <a:solidFill>
                  <a:srgbClr val="1B2220"/>
                </a:solidFill>
              </a:rPr>
              <a:t>Main study (n = 12)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544568"/>
            <a:ext cx="4187952" cy="603504"/>
          </a:xfrm>
          <a:prstGeom prst="roundRect">
            <a:avLst>
              <a:gd name="adj" fmla="val 12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300" b="1">
                <a:solidFill>
                  <a:srgbClr val="1B2220"/>
                </a:solidFill>
              </a:rPr>
              <a:t>12/1–   </a:t>
            </a:r>
            <a:r>
              <a:rPr sz="1300" b="0">
                <a:solidFill>
                  <a:srgbClr val="1B2220"/>
                </a:solidFill>
              </a:rPr>
              <a:t>Analysis, video &amp; poster,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5303520"/>
            <a:ext cx="4187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864"/>
                </a:solidFill>
              </a:rPr>
              <a:t>Dates to be aligned with course deadlines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568D78-B6A4-4878-BF84-E4AED5E509A7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046bce40-74ab-4152-bdad-59660260c14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143900DC5A9BB46A9DCDF3364B14ECF" ma:contentTypeVersion="6" ma:contentTypeDescription="새 문서를 만듭니다." ma:contentTypeScope="" ma:versionID="756f7e875007dda66da148c2a5bf19d7">
  <xsd:schema xmlns:xsd="http://www.w3.org/2001/XMLSchema" xmlns:xs="http://www.w3.org/2001/XMLSchema" xmlns:p="http://schemas.microsoft.com/office/2006/metadata/properties" xmlns:ns2="e5b8eb04-0e9e-4e7f-bfc0-8066fec565fc" xmlns:ns3="0f90124e-32a7-4227-87e2-6a990f28d9aa" targetNamespace="http://schemas.microsoft.com/office/2006/metadata/properties" ma:root="true" ma:fieldsID="6db3150731df1becca024edc9c3f4088" ns2:_="" ns3:_="">
    <xsd:import namespace="e5b8eb04-0e9e-4e7f-bfc0-8066fec565fc"/>
    <xsd:import namespace="0f90124e-32a7-4227-87e2-6a990f28d9a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8eb04-0e9e-4e7f-bfc0-8066fec565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90124e-32a7-4227-87e2-6a990f28d9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BFC145-2F4B-47B4-A0D3-9A59B89F3EB1}">
  <ds:schemaRefs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0f90124e-32a7-4227-87e2-6a990f28d9aa"/>
    <ds:schemaRef ds:uri="e5b8eb04-0e9e-4e7f-bfc0-8066fec565fc"/>
  </ds:schemaRefs>
</ds:datastoreItem>
</file>

<file path=customXml/itemProps2.xml><?xml version="1.0" encoding="utf-8"?>
<ds:datastoreItem xmlns:ds="http://schemas.openxmlformats.org/officeDocument/2006/customXml" ds:itemID="{23DB45C0-2605-45E0-8128-53320F39AB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b8eb04-0e9e-4e7f-bfc0-8066fec565fc"/>
    <ds:schemaRef ds:uri="0f90124e-32a7-4227-87e2-6a990f28d9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61ACC3-EE2D-41D2-88A3-C0BAE708CE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3955</TotalTime>
  <Words>1574</Words>
  <Application>Microsoft Office PowerPoint</Application>
  <PresentationFormat>와이드스크린</PresentationFormat>
  <Paragraphs>189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Office Theme</vt:lpstr>
      <vt:lpstr>Count &amp; Tune</vt:lpstr>
      <vt:lpstr>Background &amp; Motivation</vt:lpstr>
      <vt:lpstr>Conceptual Sketch · Count: Fingers Pick the Pen</vt:lpstr>
      <vt:lpstr>Conceptual Sketch · Tune: Pen Drag Sets the Size</vt:lpstr>
      <vt:lpstr>Implementation Sketch</vt:lpstr>
      <vt:lpstr>Previous Work</vt:lpstr>
      <vt:lpstr>Current Progress</vt:lpstr>
      <vt:lpstr>Future Plan · Study Design</vt:lpstr>
      <vt:lpstr>Future Plan · Hypotheses &amp;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 Course Overview</dc:title>
  <dc:creator>Jaeyeon Lee</dc:creator>
  <cp:lastModifiedBy>(학부생) 정원준 (컴퓨터공학과)</cp:lastModifiedBy>
  <cp:revision>514</cp:revision>
  <dcterms:created xsi:type="dcterms:W3CDTF">2021-08-30T07:57:01Z</dcterms:created>
  <dcterms:modified xsi:type="dcterms:W3CDTF">2026-10-25T10:21:20Z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0x010100B143900DC5A9BB46A9DCDF3364B14ECF</vt:lpwstr>
  </property>
</Properties>
</file>